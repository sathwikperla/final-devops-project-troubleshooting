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B45309"/>
                </a:solidFill>
                <a:latin typeface="Calibri"/>
              </a:rPr>
              <a:t>DEVOPS ENGINEERING CAPSTONE  ·  SESSION 21</a:t>
            </a:r>
          </a:p>
          <a:p>
            <a:pPr>
              <a:spcBef>
                <a:spcPts val="1400"/>
              </a:spcBef>
            </a:pPr>
            <a:r>
              <a:rPr sz="4400" b="1">
                <a:solidFill>
                  <a:srgbClr val="1C1917"/>
                </a:solidFill>
                <a:latin typeface="Calibri"/>
              </a:rPr>
              <a:t>SevZero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78716C"/>
                </a:solidFill>
                <a:latin typeface="Calibri"/>
              </a:rPr>
              <a:t>Production SRE Incident &amp; Reliability Platform</a:t>
            </a:r>
          </a:p>
          <a:p>
            <a:pPr>
              <a:spcBef>
                <a:spcPts val="1600"/>
              </a:spcBef>
            </a:pPr>
            <a:r>
              <a:rPr sz="1150">
                <a:solidFill>
                  <a:srgbClr val="44403C"/>
                </a:solidFill>
                <a:latin typeface="Calibri"/>
              </a:rPr>
              <a:t>An enterprise cloud-native platform designed to manage critical production outages, on-call coordination, and automated triage across the complete 10-module DevOps engineering lifecycle.</a:t>
            </a:r>
          </a:p>
          <a:p>
            <a:pPr>
              <a:spcBef>
                <a:spcPts val="2400"/>
              </a:spcBef>
            </a:pPr>
            <a:r>
              <a:rPr sz="1100" b="1">
                <a:solidFill>
                  <a:srgbClr val="1C1917"/>
                </a:solidFill>
                <a:latin typeface="Calibri"/>
              </a:rPr>
              <a:t>Author: Sathwik Perla  |  Roll Number: 590  |  DevOps Engineering Capstone</a:t>
            </a:r>
          </a:p>
        </p:txBody>
      </p:sp>
      <p:pic>
        <p:nvPicPr>
          <p:cNvPr id="4" name="Picture 3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059375" cy="315468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217920" y="4754880"/>
            <a:ext cx="5059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SevZero Web Application Dashboard (React + Vite)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1 · APPLICATION CORE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FastAPI Microservice &amp; Relational Data Store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M1 grading criteria: /health probe, 4+ REST API endpoints, Alembic migrations &amp; React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FastAPI REST Endpoints &amp; Probes
</a:t>
            </a:r>
            <a:r>
              <a:rPr sz="1100">
                <a:solidFill>
                  <a:srgbClr val="44403C"/>
                </a:solidFill>
                <a:latin typeface="Calibri"/>
              </a:rPr>
              <a:t>   Exposes /health (returning UP status), /ready probe, /metrics, and 4+ incident CRUD endpoints for complete on-call lifecycle management.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Relational Persistence &amp; Alembic
</a:t>
            </a:r>
            <a:r>
              <a:rPr sz="1100">
                <a:solidFill>
                  <a:srgbClr val="44403C"/>
                </a:solidFill>
                <a:latin typeface="Calibri"/>
              </a:rPr>
              <a:t>   PostgreSQL 16 relational backend with schema versioning managed via Alembic (0001_create_incidents migration).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Responsive React SRE Dashboard
</a:t>
            </a:r>
            <a:r>
              <a:rPr sz="1100">
                <a:solidFill>
                  <a:srgbClr val="44403C"/>
                </a:solidFill>
                <a:latin typeface="Calibri"/>
              </a:rPr>
              <a:t>   Clean Vite/React single-page application displaying real-time incident severity (Sev-0/Sev-1), resolution workflows, and SLA metrics.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Strict Plagiarism Immunity
</a:t>
            </a:r>
            <a:r>
              <a:rPr sz="1100">
                <a:solidFill>
                  <a:srgbClr val="44403C"/>
                </a:solidFill>
                <a:latin typeface="Calibri"/>
              </a:rPr>
              <a:t>   Built from scratch around SRE site reliability workflows, fully differentiated from the reference TaskBoard project.</a:t>
            </a:r>
          </a:p>
        </p:txBody>
      </p:sp>
      <p:pic>
        <p:nvPicPr>
          <p:cNvPr id="6" name="Picture 5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28005"/>
            <a:ext cx="5059375" cy="3162109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M1 Deliverable: SevZero Web Application Interface (:3000)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2 · TESTING QUALITY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Automated Pytest Suite &amp; Regression Gate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M2 grading criteria: pytest -v clean execution, 5+ test cases, isolated database &amp; pytest.ini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12 Comprehensive Test Cases
</a:t>
            </a:r>
            <a:r>
              <a:rPr sz="1100">
                <a:solidFill>
                  <a:srgbClr val="44403C"/>
                </a:solidFill>
                <a:latin typeface="Calibri"/>
              </a:rPr>
              <a:t>   Exceeds the 5+ test requirement with 12 unit and integration tests covering health probes, CRUD lifecycle, and error boundaries.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Isolated Database via conftest.py
</a:t>
            </a:r>
            <a:r>
              <a:rPr sz="1100">
                <a:solidFill>
                  <a:srgbClr val="44403C"/>
                </a:solidFill>
                <a:latin typeface="Calibri"/>
              </a:rPr>
              <a:t>   Uses an independent in-memory SQLite database fixture, guaranteeing zero pollution to production PostgreSQL data.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Sub-Second Test Execution (0.05s)
</a:t>
            </a:r>
            <a:r>
              <a:rPr sz="1100">
                <a:solidFill>
                  <a:srgbClr val="44403C"/>
                </a:solidFill>
                <a:latin typeface="Calibri"/>
              </a:rPr>
              <a:t>   Entire test suite completes in 0.05 seconds, delivering immediate feedback during local development and CI runs.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Automated CI Gate Enforcement
</a:t>
            </a:r>
            <a:r>
              <a:rPr sz="1100">
                <a:solidFill>
                  <a:srgbClr val="44403C"/>
                </a:solidFill>
                <a:latin typeface="Calibri"/>
              </a:rPr>
              <a:t>   Pre-configured in pytest.ini; any regression or test failure immediately aborts the deployment pipeline.</a:t>
            </a:r>
          </a:p>
        </p:txBody>
      </p:sp>
      <p:pic>
        <p:nvPicPr>
          <p:cNvPr id="6" name="Picture 5" descr="01-pytest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019716"/>
            <a:ext cx="5059375" cy="1778686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M2 Deliverable: 12 of 12 Pytest Tests Passing (0.05s)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3 · VERSION CONTROL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Git Commit History &amp; Repository Hygiene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M3 grading criteria: 10+ meaningful commits, semantic conventions &amp; clean .gitignore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15+ Atomic Semantic Commits
</a:t>
            </a:r>
            <a:r>
              <a:rPr sz="1100">
                <a:solidFill>
                  <a:srgbClr val="44403C"/>
                </a:solidFill>
                <a:latin typeface="Calibri"/>
              </a:rPr>
              <a:t>   Exceeds the 10-commit requirement with meaningful Conventional Commits (feat, fix, refactor, docs) describing technical changes.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Strict Exclusion via .gitignore
</a:t>
            </a:r>
            <a:r>
              <a:rPr sz="1100">
                <a:solidFill>
                  <a:srgbClr val="44403C"/>
                </a:solidFill>
                <a:latin typeface="Calibri"/>
              </a:rPr>
              <a:t>   Thorough .gitignore excludes .env files, node_modules, __pycache__, .venv, and terraform state files.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Zero Secrets in Repository
</a:t>
            </a:r>
            <a:r>
              <a:rPr sz="1100">
                <a:solidFill>
                  <a:srgbClr val="44403C"/>
                </a:solidFill>
                <a:latin typeface="Calibri"/>
              </a:rPr>
              <a:t>   Strict audit verifies zero AWS credentials, access keys, database passwords, or private keys committed to Git history.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Clean Project Structure
</a:t>
            </a:r>
            <a:r>
              <a:rPr sz="1100">
                <a:solidFill>
                  <a:srgbClr val="44403C"/>
                </a:solidFill>
                <a:latin typeface="Calibri"/>
              </a:rPr>
              <a:t>   Organized across modular directories (backend, frontend, helm, terraform, k8s, troubleshooting) for maintainability.</a:t>
            </a:r>
          </a:p>
        </p:txBody>
      </p:sp>
      <p:pic>
        <p:nvPicPr>
          <p:cNvPr id="6" name="Picture 5" descr="19-git-commit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985131"/>
            <a:ext cx="5059375" cy="1847857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M3 Deliverable: Clean Git Commit History with Conventional Commits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4 · CONTAINERIZATION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Multi-Stage Non-Root Docker Architecture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M4 grading criteria: backend Dockerfile, multi-stage frontend, non-root users &amp; Compose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Multi-Stage Frontend Build
</a:t>
            </a:r>
            <a:r>
              <a:rPr sz="1100">
                <a:solidFill>
                  <a:srgbClr val="44403C"/>
                </a:solidFill>
                <a:latin typeface="Calibri"/>
              </a:rPr>
              <a:t>   Stage 1 compiles React assets using Node 22; Stage 2 extracts only static artifacts into a lean unprivileged Nginx image.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Strict Non-Root User Execution
</a:t>
            </a:r>
            <a:r>
              <a:rPr sz="1100">
                <a:solidFill>
                  <a:srgbClr val="44403C"/>
                </a:solidFill>
                <a:latin typeface="Calibri"/>
              </a:rPr>
              <a:t>   Backend runs as unprivileged 'appuser' (UID 10001); frontend runs under unprivileged 'nginx' (UID 101) with zero root privileges.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Single-Command Compose Stack
</a:t>
            </a:r>
            <a:r>
              <a:rPr sz="1100">
                <a:solidFill>
                  <a:srgbClr val="44403C"/>
                </a:solidFill>
                <a:latin typeface="Calibri"/>
              </a:rPr>
              <a:t>   docker compose up --build launches all three services (backend, frontend, postgres) with automated healthcheck dependencies.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Minimized Attack Surface
</a:t>
            </a:r>
            <a:r>
              <a:rPr sz="1100">
                <a:solidFill>
                  <a:srgbClr val="44403C"/>
                </a:solidFill>
                <a:latin typeface="Calibri"/>
              </a:rPr>
              <a:t>   Eliminates root shell access and unused package compilers from production container images.</a:t>
            </a:r>
          </a:p>
        </p:txBody>
      </p:sp>
      <p:pic>
        <p:nvPicPr>
          <p:cNvPr id="6" name="Picture 5" descr="02-docker-compose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291460"/>
            <a:ext cx="5059375" cy="1235198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M4 Deliverable: Healthy 3-Service Docker Compose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5 · CI/CD PIPELINE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3-Stage Automated GitHub Actions Delivery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M5 grading criteria: push to main trigger, pytest gate, frontend build &amp; GHCR SHA tags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Stage 1: Validate Gate (24s)
</a:t>
            </a:r>
            <a:r>
              <a:rPr sz="1100">
                <a:solidFill>
                  <a:srgbClr val="44403C"/>
                </a:solidFill>
                <a:latin typeface="Calibri"/>
              </a:rPr>
              <a:t>   Executes backend pytest suite and frontend npm build, verifying code integrity prior to image builds.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Stage 2: Build &amp; Scan (1m)
</a:t>
            </a:r>
            <a:r>
              <a:rPr sz="1100">
                <a:solidFill>
                  <a:srgbClr val="44403C"/>
                </a:solidFill>
                <a:latin typeface="Calibri"/>
              </a:rPr>
              <a:t>   Constructs Docker images, triggers automated Trivy vulnerability scanning, and publishes images to GHCR.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Immutable Git SHA Image Tags
</a:t>
            </a:r>
            <a:r>
              <a:rPr sz="1100">
                <a:solidFill>
                  <a:srgbClr val="44403C"/>
                </a:solidFill>
                <a:latin typeface="Calibri"/>
              </a:rPr>
              <a:t>   Container images are strictly tagged with the exact 7-character commit SHA (never generic 'latest' tags).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Stage 3: Atomic Helm Deploy (5s)
</a:t>
            </a:r>
            <a:r>
              <a:rPr sz="1100">
                <a:solidFill>
                  <a:srgbClr val="44403C"/>
                </a:solidFill>
                <a:latin typeface="Calibri"/>
              </a:rPr>
              <a:t>   Executes automated zero-downtime rolling update via Helm 3 upon successful completion of prior stages.</a:t>
            </a:r>
          </a:p>
        </p:txBody>
      </p:sp>
      <p:pic>
        <p:nvPicPr>
          <p:cNvPr id="6" name="Picture 5" descr="21-github-action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66245"/>
            <a:ext cx="5059375" cy="3285629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M5 Deliverable: 3-Stage Synchronous GitHub Actions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6 · DEVSECOPS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Aquasecurity Trivy Container Vulnerability Gating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M6 grading criteria: Trivy CI scan, fail on HIGH/CRITICAL, and written explanation of CVE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Automated CI Security Gate
</a:t>
            </a:r>
            <a:r>
              <a:rPr sz="1100">
                <a:solidFill>
                  <a:srgbClr val="44403C"/>
                </a:solidFill>
                <a:latin typeface="Calibri"/>
              </a:rPr>
              <a:t>   Trivy scan executes in CI on both backend and frontend images with --severity HIGH,CRITICAL and --exit-code 1.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Detected CVE Explanation
</a:t>
            </a:r>
            <a:r>
              <a:rPr sz="1100">
                <a:solidFill>
                  <a:srgbClr val="44403C"/>
                </a:solidFill>
                <a:latin typeface="Calibri"/>
              </a:rPr>
              <a:t>   Identified CVE-2025-62727 (Starlette HTTP Range header DoS flaw) in backend image; documented upstream patch release path.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Clean Frontend Verification
</a:t>
            </a:r>
            <a:r>
              <a:rPr sz="1100">
                <a:solidFill>
                  <a:srgbClr val="44403C"/>
                </a:solidFill>
                <a:latin typeface="Calibri"/>
              </a:rPr>
              <a:t>   Frontend Alpine container verified with zero HIGH and zero CRITICAL security vulnerabilities.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Automated Policy Enforcement
</a:t>
            </a:r>
            <a:r>
              <a:rPr sz="1100">
                <a:solidFill>
                  <a:srgbClr val="44403C"/>
                </a:solidFill>
                <a:latin typeface="Calibri"/>
              </a:rPr>
              <a:t>   Guarantees that untracked or vulnerable container images can never reach the production registry.</a:t>
            </a:r>
          </a:p>
        </p:txBody>
      </p:sp>
      <p:pic>
        <p:nvPicPr>
          <p:cNvPr id="6" name="Picture 5" descr="04-trivy-scan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43236"/>
            <a:ext cx="5059375" cy="1531646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M6 Deliverable: Trivy Security Scan &amp; Vulnerability Detection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7 · INFRASTRUCTURE AS CODE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AWS VPC &amp; Managed EKS Infrastructure via Terraform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M7 grading criteria: valid HCL, terraform init/validate pass, VPC with 2 public subnets, EKS &amp; tfvars.example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Multi-AZ VPC Architecture
</a:t>
            </a:r>
            <a:r>
              <a:rPr sz="1100">
                <a:solidFill>
                  <a:srgbClr val="44403C"/>
                </a:solidFill>
                <a:latin typeface="Calibri"/>
              </a:rPr>
              <a:t>   Provisions a robust 10.20.0.0/16 VPC across two availability zones (ap-south-1a and ap-south-1b) with public &amp; private subnets.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EKS Managed Node Groups
</a:t>
            </a:r>
            <a:r>
              <a:rPr sz="1100">
                <a:solidFill>
                  <a:srgbClr val="44403C"/>
                </a:solidFill>
                <a:latin typeface="Calibri"/>
              </a:rPr>
              <a:t>   Provisions an AWS Kubernetes 1.31 control plane with t3.medium managed worker nodes isolated in private subnets.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Modular Architecture
</a:t>
            </a:r>
            <a:r>
              <a:rPr sz="1100">
                <a:solidFill>
                  <a:srgbClr val="44403C"/>
                </a:solidFill>
                <a:latin typeface="Calibri"/>
              </a:rPr>
              <a:t>   Structured across clean modules (VPC, EKS, Node Groups) with parameterized input variables and output contracts.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Validated &amp; Secrets-Free
</a:t>
            </a:r>
            <a:r>
              <a:rPr sz="1100">
                <a:solidFill>
                  <a:srgbClr val="44403C"/>
                </a:solidFill>
                <a:latin typeface="Calibri"/>
              </a:rPr>
              <a:t>   Verified via terraform init and terraform validate (0 errors); includes terraform.tfvars.example with zero committed secrets.</a:t>
            </a:r>
          </a:p>
        </p:txBody>
      </p:sp>
      <p:pic>
        <p:nvPicPr>
          <p:cNvPr id="6" name="Picture 5" descr="07-terraform-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414980"/>
            <a:ext cx="5059375" cy="988159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M7 Deliverable: Terraform Configuration Validated (0 Errors)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8 · ORCHESTRATION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Kubernetes Clustering, Ingress &amp; Autoscaling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M8 grading criteria: namespace.yaml, Helm chart, 2+ replicas each, ClusterIP, Ingress &amp; Running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Declarative Helm 3 Chart
</a:t>
            </a:r>
            <a:r>
              <a:rPr sz="1100">
                <a:solidFill>
                  <a:srgbClr val="44403C"/>
                </a:solidFill>
                <a:latin typeface="Calibri"/>
              </a:rPr>
              <a:t>   Custom chart in helm/sevzero/ parameterizing backend, frontend, postgres, ingress, and horizontal pod autoscaler.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Namespace Isolation
</a:t>
            </a:r>
            <a:r>
              <a:rPr sz="1100">
                <a:solidFill>
                  <a:srgbClr val="44403C"/>
                </a:solidFill>
                <a:latin typeface="Calibri"/>
              </a:rPr>
              <a:t>   All microservices run inside the dedicated 'sevzero' namespace with isolated RBAC and service accounts.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High Availability &amp; Autoscaling
</a:t>
            </a:r>
            <a:r>
              <a:rPr sz="1100">
                <a:solidFill>
                  <a:srgbClr val="44403C"/>
                </a:solidFill>
                <a:latin typeface="Calibri"/>
              </a:rPr>
              <a:t>   Backend and frontend configured with 2+ replicas each; HPA dynamically autoscales backend (2 to 6 pods) at 75% CPU.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Ingress Host Routing
</a:t>
            </a:r>
            <a:r>
              <a:rPr sz="1100">
                <a:solidFill>
                  <a:srgbClr val="44403C"/>
                </a:solidFill>
                <a:latin typeface="Calibri"/>
              </a:rPr>
              <a:t>   Nginx Ingress routes host 'sevzero.local', cleanly routing '/' to the React UI and '/api' to the FastAPI backend.</a:t>
            </a:r>
          </a:p>
        </p:txBody>
      </p:sp>
      <p:pic>
        <p:nvPicPr>
          <p:cNvPr id="6" name="Picture 5" descr="11-kubectl-get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242052"/>
            <a:ext cx="5059375" cy="1334014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M8 Deliverable: Kubernetes Pods in Running State in 'sevzero' Namespace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9 · OBSERVABILITY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Prometheus Metrics &amp; Grafana SRE Dashboard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M9 grading criteria: /metrics endpoint, Prometheus scraping (UP), Grafana accessible &amp; live panels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OpenMetrics Telemetry Endpoint
</a:t>
            </a:r>
            <a:r>
              <a:rPr sz="1100">
                <a:solidFill>
                  <a:srgbClr val="44403C"/>
                </a:solidFill>
                <a:latin typeface="Calibri"/>
              </a:rPr>
              <a:t>   FastAPI backend exposes structured /metrics scraped every 15s by Prometheus Operator ServiceMonitor.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Active Scraping Verification
</a:t>
            </a:r>
            <a:r>
              <a:rPr sz="1100">
                <a:solidFill>
                  <a:srgbClr val="44403C"/>
                </a:solidFill>
                <a:latin typeface="Calibri"/>
              </a:rPr>
              <a:t>   Prometheus Targets confirms 2/2 backend pod replicas in healthy UP state with zero scrape errors.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SRE 4 Golden Signals Dashboard
</a:t>
            </a:r>
            <a:r>
              <a:rPr sz="1100">
                <a:solidFill>
                  <a:srgbClr val="44403C"/>
                </a:solidFill>
                <a:latin typeface="Calibri"/>
              </a:rPr>
              <a:t>   Grafana 11 dashboard tracking Request Latency (P50/P95/P99), Traffic throughput, Error rate, and Saturation.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Demonstrated Reliability SLO
</a:t>
            </a:r>
            <a:r>
              <a:rPr sz="1100">
                <a:solidFill>
                  <a:srgbClr val="44403C"/>
                </a:solidFill>
                <a:latin typeface="Calibri"/>
              </a:rPr>
              <a:t>   Maintained P95 latency of 18.4ms (&lt; 50ms SLO) and 0.00% 5xx server error rate across 4,300+ benchmark requests.</a:t>
            </a:r>
          </a:p>
        </p:txBody>
      </p:sp>
      <p:pic>
        <p:nvPicPr>
          <p:cNvPr id="6" name="Picture 5" descr="20-grafana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28005"/>
            <a:ext cx="5059375" cy="3162109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M9 Deliverable: Grafana 11 Dashboard Monitoring SRE Golden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Calibri"/>
              </a:rPr>
              <a:t>MODULE 10 · VERIFICATION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1C1917"/>
                </a:solidFill>
                <a:latin typeface="Calibri"/>
              </a:rPr>
              <a:t>Production Troubleshooting &amp; Live Demo Readiness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78716C"/>
                </a:solidFill>
                <a:latin typeface="Calibri"/>
              </a:rPr>
              <a:t>Fulfilling M10 grading criteria: professional README.md, failure scenario exercises &amp; 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1917"/>
                </a:solidFill>
                <a:latin typeface="Calibri"/>
              </a:rPr>
              <a:t>•  Scenario 1: ImagePullBackOff Triage
</a:t>
            </a:r>
            <a:r>
              <a:rPr sz="1100">
                <a:solidFill>
                  <a:srgbClr val="44403C"/>
                </a:solidFill>
                <a:latin typeface="Calibri"/>
              </a:rPr>
              <a:t>   Diagnosed missing container registry tag (v999) using kubectl describe pod; resolved by pinning verified SHA digest.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Scenario 2: Empty Endpoints Triage
</a:t>
            </a:r>
            <a:r>
              <a:rPr sz="1100">
                <a:solidFill>
                  <a:srgbClr val="44403C"/>
                </a:solidFill>
                <a:latin typeface="Calibri"/>
              </a:rPr>
              <a:t>   Diagnosed connection refused error via kubectl get endpoints; resolved by realigning mismatched Service selector labels.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Comprehensive Project Documentation
</a:t>
            </a:r>
            <a:r>
              <a:rPr sz="1100">
                <a:solidFill>
                  <a:srgbClr val="44403C"/>
                </a:solidFill>
                <a:latin typeface="Calibri"/>
              </a:rPr>
              <a:t>   Complete README.md explaining architecture, quickstart commands, API tables, and verification steps.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1C1917"/>
                </a:solidFill>
                <a:latin typeface="Calibri"/>
              </a:rPr>
              <a:t>•  Live Demo Readiness
</a:t>
            </a:r>
            <a:r>
              <a:rPr sz="1100">
                <a:solidFill>
                  <a:srgbClr val="44403C"/>
                </a:solidFill>
                <a:latin typeface="Calibri"/>
              </a:rPr>
              <a:t>   End-to-end verified delivery workflow: git commit trigger -&gt; CI test &amp; build -&gt; GHCR push -&gt; Helm atomic rolling update.</a:t>
            </a:r>
          </a:p>
        </p:txBody>
      </p:sp>
      <p:pic>
        <p:nvPicPr>
          <p:cNvPr id="6" name="Picture 5" descr="18-troubleshoot-broken-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390276"/>
            <a:ext cx="5059375" cy="1037567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217920" y="5715000"/>
            <a:ext cx="5059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78716C"/>
                </a:solidFill>
                <a:latin typeface="Calibri"/>
              </a:rPr>
              <a:t>Artifact: M10 Deliverable: Root Cause Analysis on Broken Service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D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78716C"/>
                </a:solidFill>
                <a:latin typeface="Calibri"/>
              </a:rPr>
              <a:t>SevZero — Production SRE Incident &amp; Reliability Platform  |  Sathwik Perla (Roll: 590)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78716C"/>
                </a:solidFill>
                <a:latin typeface="Calibri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