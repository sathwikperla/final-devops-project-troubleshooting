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50292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B45309"/>
                </a:solidFill>
                <a:latin typeface="Calibri"/>
              </a:rPr>
              <a:t>DEVOPS CAPSTONE PROJECT  ·  SESSION 21</a:t>
            </a:r>
          </a:p>
          <a:p>
            <a:pPr>
              <a:spcBef>
                <a:spcPts val="1400"/>
              </a:spcBef>
            </a:pPr>
            <a:r>
              <a:rPr sz="4400" b="1">
                <a:solidFill>
                  <a:srgbClr val="1C1917"/>
                </a:solidFill>
                <a:latin typeface="Calibri"/>
              </a:rPr>
              <a:t>SevZero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78716C"/>
                </a:solidFill>
                <a:latin typeface="Calibri"/>
              </a:rPr>
              <a:t>Production SRE Incident &amp; Reliability Platform</a:t>
            </a:r>
          </a:p>
          <a:p>
            <a:pPr>
              <a:spcBef>
                <a:spcPts val="1600"/>
              </a:spcBef>
            </a:pPr>
            <a:r>
              <a:rPr sz="1150">
                <a:solidFill>
                  <a:srgbClr val="44403C"/>
                </a:solidFill>
                <a:latin typeface="Calibri"/>
              </a:rPr>
              <a:t>An enterprise cloud-native platform designed to manage critical production outages, on-call coordination, and automated triage across the complete 10-stage DevOps lifecycle.</a:t>
            </a:r>
          </a:p>
          <a:p>
            <a:pPr>
              <a:spcBef>
                <a:spcPts val="2400"/>
              </a:spcBef>
            </a:pPr>
            <a:r>
              <a:rPr sz="1100" b="1">
                <a:solidFill>
                  <a:srgbClr val="1C1917"/>
                </a:solidFill>
                <a:latin typeface="Calibri"/>
              </a:rPr>
              <a:t>Author: Sathwik Perla  |  Roll Number: 590  |  DevOps Engineering Capstone</a:t>
            </a:r>
          </a:p>
        </p:txBody>
      </p:sp>
      <p:pic>
        <p:nvPicPr>
          <p:cNvPr id="4" name="Picture 3" descr="03-browser-app-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059375" cy="3154680"/>
          </a:xfrm>
          <a:prstGeom prst="rect">
            <a:avLst/>
          </a:prstGeom>
          <a:ln>
            <a:noFill/>
          </a:ln>
        </p:spPr>
      </p:pic>
      <p:sp>
        <p:nvSpPr>
          <p:cNvPr id="5" name="TextBox 4"/>
          <p:cNvSpPr txBox="1"/>
          <p:nvPr/>
        </p:nvSpPr>
        <p:spPr>
          <a:xfrm>
            <a:off x="6217920" y="4754880"/>
            <a:ext cx="50593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78716C"/>
                </a:solidFill>
                <a:latin typeface="Calibri"/>
              </a:rPr>
              <a:t>Artifact: SevZero Web Application Dashboard (React + Vite)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217920"/>
            <a:ext cx="10362895" cy="9144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30936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78716C"/>
                </a:solidFill>
                <a:latin typeface="Calibri"/>
              </a:rPr>
              <a:t>SevZero — Production SRE Incident &amp; Reliability Platform  |  Sathwik Perla (Roll: 590)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309360"/>
            <a:ext cx="213329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50" b="1">
                <a:solidFill>
                  <a:srgbClr val="78716C"/>
                </a:solidFill>
                <a:latin typeface="Calibri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B45309"/>
                </a:solidFill>
                <a:latin typeface="Calibri"/>
              </a:rPr>
              <a:t>MODULE 1 · ARCHITECTURE</a:t>
            </a:r>
          </a:p>
          <a:p>
            <a:pPr>
              <a:spcBef>
                <a:spcPts val="400"/>
              </a:spcBef>
            </a:pPr>
            <a:r>
              <a:rPr sz="2500" b="1">
                <a:solidFill>
                  <a:srgbClr val="1C1917"/>
                </a:solidFill>
                <a:latin typeface="Calibri"/>
              </a:rPr>
              <a:t>SevZero Platform &amp; SRE Incident Purpose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78716C"/>
                </a:solidFill>
                <a:latin typeface="Calibri"/>
              </a:rPr>
              <a:t>Transitioning from generic task management to mission-critical production outage triage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62895" cy="13716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48463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C1917"/>
                </a:solidFill>
                <a:latin typeface="Calibri"/>
              </a:rPr>
              <a:t>•  Sev-0 Incident Paradigm
</a:t>
            </a:r>
            <a:r>
              <a:rPr sz="1100">
                <a:solidFill>
                  <a:srgbClr val="44403C"/>
                </a:solidFill>
                <a:latin typeface="Calibri"/>
              </a:rPr>
              <a:t>   Replaces generic to-do apps with a production-grade platform dedicated to Sev-0 and Sev-1 catastrophic incident response.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Modern Microservice Stack
</a:t>
            </a:r>
            <a:r>
              <a:rPr sz="1100">
                <a:solidFill>
                  <a:srgbClr val="44403C"/>
                </a:solidFill>
                <a:latin typeface="Calibri"/>
              </a:rPr>
              <a:t>   FastAPI async REST backend, PostgreSQL 16 relational database with Alembic migrations, and a Vite/React web dashboard.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Telemetry &amp; Metrics Driven
</a:t>
            </a:r>
            <a:r>
              <a:rPr sz="1100">
                <a:solidFill>
                  <a:srgbClr val="44403C"/>
                </a:solidFill>
                <a:latin typeface="Calibri"/>
              </a:rPr>
              <a:t>   Equipped with OpenMetrics endpoints scraping live latency, traffic, and error metrics for automated observability.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Full Lifecycle Alignment
</a:t>
            </a:r>
            <a:r>
              <a:rPr sz="1100">
                <a:solidFill>
                  <a:srgbClr val="44403C"/>
                </a:solidFill>
                <a:latin typeface="Calibri"/>
              </a:rPr>
              <a:t>   Engineered from day one for seamless containerization and zero-downtime rolling updates in Kubernetes.</a:t>
            </a:r>
          </a:p>
        </p:txBody>
      </p:sp>
      <p:pic>
        <p:nvPicPr>
          <p:cNvPr id="6" name="Picture 5" descr="03-browser-app-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328005"/>
            <a:ext cx="5059375" cy="3162109"/>
          </a:xfrm>
          <a:prstGeom prst="rect">
            <a:avLst/>
          </a:prstGeom>
          <a:ln>
            <a:noFill/>
          </a:ln>
        </p:spPr>
      </p:pic>
      <p:sp>
        <p:nvSpPr>
          <p:cNvPr id="7" name="TextBox 6"/>
          <p:cNvSpPr txBox="1"/>
          <p:nvPr/>
        </p:nvSpPr>
        <p:spPr>
          <a:xfrm>
            <a:off x="6217920" y="5715000"/>
            <a:ext cx="50593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78716C"/>
                </a:solidFill>
                <a:latin typeface="Calibri"/>
              </a:rPr>
              <a:t>Artifact: Live SevZero Incident Management Interface (:3000)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6217920"/>
            <a:ext cx="10362895" cy="9144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30936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78716C"/>
                </a:solidFill>
                <a:latin typeface="Calibri"/>
              </a:rPr>
              <a:t>SevZero — Production SRE Incident &amp; Reliability Platform  |  Sathwik Perla (Roll: 590)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309360"/>
            <a:ext cx="213329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50" b="1">
                <a:solidFill>
                  <a:srgbClr val="78716C"/>
                </a:solidFill>
                <a:latin typeface="Calibri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B45309"/>
                </a:solidFill>
                <a:latin typeface="Calibri"/>
              </a:rPr>
              <a:t>MODULE 2 · QUALITY ASSURANCE</a:t>
            </a:r>
          </a:p>
          <a:p>
            <a:pPr>
              <a:spcBef>
                <a:spcPts val="400"/>
              </a:spcBef>
            </a:pPr>
            <a:r>
              <a:rPr sz="2500" b="1">
                <a:solidFill>
                  <a:srgbClr val="1C1917"/>
                </a:solidFill>
                <a:latin typeface="Calibri"/>
              </a:rPr>
              <a:t>Automated Pytest Testing Suite &amp; CI Gate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78716C"/>
                </a:solidFill>
                <a:latin typeface="Calibri"/>
              </a:rPr>
              <a:t>Guaranteeing zero regressions before code reaches containerization or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62895" cy="13716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48463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C1917"/>
                </a:solidFill>
                <a:latin typeface="Calibri"/>
              </a:rPr>
              <a:t>•  12 Comprehensive Test Cases
</a:t>
            </a:r>
            <a:r>
              <a:rPr sz="1100">
                <a:solidFill>
                  <a:srgbClr val="44403C"/>
                </a:solidFill>
                <a:latin typeface="Calibri"/>
              </a:rPr>
              <a:t>   Validates health probes, incident CRUD operations, status state transitions, and error boundary behaviors.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Isolated SQLite In-Memory Database
</a:t>
            </a:r>
            <a:r>
              <a:rPr sz="1100">
                <a:solidFill>
                  <a:srgbClr val="44403C"/>
                </a:solidFill>
                <a:latin typeface="Calibri"/>
              </a:rPr>
              <a:t>   Uses an independent SQLite database during testing via conftest.py, guaranteeing zero pollution to production.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Sub-Second Test Execution
</a:t>
            </a:r>
            <a:r>
              <a:rPr sz="1100">
                <a:solidFill>
                  <a:srgbClr val="44403C"/>
                </a:solidFill>
                <a:latin typeface="Calibri"/>
              </a:rPr>
              <a:t>   Entire 12-test suite executes in 0.05 seconds, delivering immediate feedback during local development and CI runs.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Strict CI Gate Halt
</a:t>
            </a:r>
            <a:r>
              <a:rPr sz="1100">
                <a:solidFill>
                  <a:srgbClr val="44403C"/>
                </a:solidFill>
                <a:latin typeface="Calibri"/>
              </a:rPr>
              <a:t>   Pre-configured in pytest.ini; any failing unit or integration test immediately aborts the deployment pipeline.</a:t>
            </a:r>
          </a:p>
        </p:txBody>
      </p:sp>
      <p:pic>
        <p:nvPicPr>
          <p:cNvPr id="6" name="Picture 5" descr="01-pytest-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019716"/>
            <a:ext cx="5059375" cy="1778686"/>
          </a:xfrm>
          <a:prstGeom prst="rect">
            <a:avLst/>
          </a:prstGeom>
          <a:ln>
            <a:noFill/>
          </a:ln>
        </p:spPr>
      </p:pic>
      <p:sp>
        <p:nvSpPr>
          <p:cNvPr id="7" name="TextBox 6"/>
          <p:cNvSpPr txBox="1"/>
          <p:nvPr/>
        </p:nvSpPr>
        <p:spPr>
          <a:xfrm>
            <a:off x="6217920" y="5715000"/>
            <a:ext cx="50593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78716C"/>
                </a:solidFill>
                <a:latin typeface="Calibri"/>
              </a:rPr>
              <a:t>Artifact: 12 of 12 Pytest Unit and Integration Tests Passing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6217920"/>
            <a:ext cx="10362895" cy="9144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30936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78716C"/>
                </a:solidFill>
                <a:latin typeface="Calibri"/>
              </a:rPr>
              <a:t>SevZero — Production SRE Incident &amp; Reliability Platform  |  Sathwik Perla (Roll: 590)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309360"/>
            <a:ext cx="213329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50" b="1">
                <a:solidFill>
                  <a:srgbClr val="78716C"/>
                </a:solidFill>
                <a:latin typeface="Calibri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B45309"/>
                </a:solidFill>
                <a:latin typeface="Calibri"/>
              </a:rPr>
              <a:t>MODULE 4 · CONTAINERIZATION</a:t>
            </a:r>
          </a:p>
          <a:p>
            <a:pPr>
              <a:spcBef>
                <a:spcPts val="400"/>
              </a:spcBef>
            </a:pPr>
            <a:r>
              <a:rPr sz="2500" b="1">
                <a:solidFill>
                  <a:srgbClr val="1C1917"/>
                </a:solidFill>
                <a:latin typeface="Calibri"/>
              </a:rPr>
              <a:t>Multi-Stage Non-Root Docker Architecture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78716C"/>
                </a:solidFill>
                <a:latin typeface="Calibri"/>
              </a:rPr>
              <a:t>Eliminating container escape vulnerabilities through least-privilege security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62895" cy="13716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48463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C1917"/>
                </a:solidFill>
                <a:latin typeface="Calibri"/>
              </a:rPr>
              <a:t>•  Multi-Stage Build Pipeline
</a:t>
            </a:r>
            <a:r>
              <a:rPr sz="1100">
                <a:solidFill>
                  <a:srgbClr val="44403C"/>
                </a:solidFill>
                <a:latin typeface="Calibri"/>
              </a:rPr>
              <a:t>   Stage 1 compiles dependencies with build tooling; Stage 2 extracts only runtime binaries into a lean production image.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Strict Non-Root Execution
</a:t>
            </a:r>
            <a:r>
              <a:rPr sz="1100">
                <a:solidFill>
                  <a:srgbClr val="44403C"/>
                </a:solidFill>
                <a:latin typeface="Calibri"/>
              </a:rPr>
              <a:t>   Backend runs under unprivileged 'appuser' (UID 10001) and frontend runs under unprivileged 'nginx' (UID 101).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Docker Compose Stack
</a:t>
            </a:r>
            <a:r>
              <a:rPr sz="1100">
                <a:solidFill>
                  <a:srgbClr val="44403C"/>
                </a:solidFill>
                <a:latin typeface="Calibri"/>
              </a:rPr>
              <a:t>   Declarative 3-service orchestration linking backend, frontend, and PostgreSQL with automated healthcheck dependency ordering.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Minimized Attack Surface
</a:t>
            </a:r>
            <a:r>
              <a:rPr sz="1100">
                <a:solidFill>
                  <a:srgbClr val="44403C"/>
                </a:solidFill>
                <a:latin typeface="Calibri"/>
              </a:rPr>
              <a:t>   Completely removes root shell privileges and package managers from all deployed production containers.</a:t>
            </a:r>
          </a:p>
        </p:txBody>
      </p:sp>
      <p:pic>
        <p:nvPicPr>
          <p:cNvPr id="6" name="Picture 5" descr="02-docker-compose-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291460"/>
            <a:ext cx="5059375" cy="1235198"/>
          </a:xfrm>
          <a:prstGeom prst="rect">
            <a:avLst/>
          </a:prstGeom>
          <a:ln>
            <a:noFill/>
          </a:ln>
        </p:spPr>
      </p:pic>
      <p:sp>
        <p:nvSpPr>
          <p:cNvPr id="7" name="TextBox 6"/>
          <p:cNvSpPr txBox="1"/>
          <p:nvPr/>
        </p:nvSpPr>
        <p:spPr>
          <a:xfrm>
            <a:off x="6217920" y="5715000"/>
            <a:ext cx="50593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78716C"/>
                </a:solidFill>
                <a:latin typeface="Calibri"/>
              </a:rPr>
              <a:t>Artifact: Healthy 3-Service Docker Compose Local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6217920"/>
            <a:ext cx="10362895" cy="9144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30936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78716C"/>
                </a:solidFill>
                <a:latin typeface="Calibri"/>
              </a:rPr>
              <a:t>SevZero — Production SRE Incident &amp; Reliability Platform  |  Sathwik Perla (Roll: 590)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309360"/>
            <a:ext cx="213329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50" b="1">
                <a:solidFill>
                  <a:srgbClr val="78716C"/>
                </a:solidFill>
                <a:latin typeface="Calibri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B45309"/>
                </a:solidFill>
                <a:latin typeface="Calibri"/>
              </a:rPr>
              <a:t>MODULE 5 · CONTINUOUS DELIVERY</a:t>
            </a:r>
          </a:p>
          <a:p>
            <a:pPr>
              <a:spcBef>
                <a:spcPts val="400"/>
              </a:spcBef>
            </a:pPr>
            <a:r>
              <a:rPr sz="2500" b="1">
                <a:solidFill>
                  <a:srgbClr val="1C1917"/>
                </a:solidFill>
                <a:latin typeface="Calibri"/>
              </a:rPr>
              <a:t>3-Stage Automated GitHub Actions Pipeline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78716C"/>
                </a:solidFill>
                <a:latin typeface="Calibri"/>
              </a:rPr>
              <a:t>Autonomous testing, security scanning, and cluster deployment triggered on every commit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62895" cy="13716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48463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C1917"/>
                </a:solidFill>
                <a:latin typeface="Calibri"/>
              </a:rPr>
              <a:t>•  Stage 1: Validate Gate (24s)
</a:t>
            </a:r>
            <a:r>
              <a:rPr sz="1100">
                <a:solidFill>
                  <a:srgbClr val="44403C"/>
                </a:solidFill>
                <a:latin typeface="Calibri"/>
              </a:rPr>
              <a:t>   Executes backend pytest suite and frontend npm build, verifying code integrity prior to image builds.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Stage 2: Build &amp; Scan (1m)
</a:t>
            </a:r>
            <a:r>
              <a:rPr sz="1100">
                <a:solidFill>
                  <a:srgbClr val="44403C"/>
                </a:solidFill>
                <a:latin typeface="Calibri"/>
              </a:rPr>
              <a:t>   Constructs Docker images, triggers automated Trivy vulnerability scanning, and publishes immutable SHA tags to GHCR.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Stage 3: Deploy via Helm (5s)
</a:t>
            </a:r>
            <a:r>
              <a:rPr sz="1100">
                <a:solidFill>
                  <a:srgbClr val="44403C"/>
                </a:solidFill>
                <a:latin typeface="Calibri"/>
              </a:rPr>
              <a:t>   Executes atomic zero-downtime rolling updates in the Kubernetes cluster using Helm 3.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Zero Manual Deployments
</a:t>
            </a:r>
            <a:r>
              <a:rPr sz="1100">
                <a:solidFill>
                  <a:srgbClr val="44403C"/>
                </a:solidFill>
                <a:latin typeface="Calibri"/>
              </a:rPr>
              <a:t>   Enforces end-to-end continuous delivery with automated audit logging on every commit.</a:t>
            </a:r>
          </a:p>
        </p:txBody>
      </p:sp>
      <p:pic>
        <p:nvPicPr>
          <p:cNvPr id="6" name="Picture 5" descr="21-github-actions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66245"/>
            <a:ext cx="5059375" cy="3285629"/>
          </a:xfrm>
          <a:prstGeom prst="rect">
            <a:avLst/>
          </a:prstGeom>
          <a:ln>
            <a:noFill/>
          </a:ln>
        </p:spPr>
      </p:pic>
      <p:sp>
        <p:nvSpPr>
          <p:cNvPr id="7" name="TextBox 6"/>
          <p:cNvSpPr txBox="1"/>
          <p:nvPr/>
        </p:nvSpPr>
        <p:spPr>
          <a:xfrm>
            <a:off x="6217920" y="5715000"/>
            <a:ext cx="50593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78716C"/>
                </a:solidFill>
                <a:latin typeface="Calibri"/>
              </a:rPr>
              <a:t>Artifact: Synchronous 3-Stage GitHub Actions Delivery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6217920"/>
            <a:ext cx="10362895" cy="9144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30936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78716C"/>
                </a:solidFill>
                <a:latin typeface="Calibri"/>
              </a:rPr>
              <a:t>SevZero — Production SRE Incident &amp; Reliability Platform  |  Sathwik Perla (Roll: 590)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309360"/>
            <a:ext cx="213329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50" b="1">
                <a:solidFill>
                  <a:srgbClr val="78716C"/>
                </a:solidFill>
                <a:latin typeface="Calibri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B45309"/>
                </a:solidFill>
                <a:latin typeface="Calibri"/>
              </a:rPr>
              <a:t>MODULE 6 · DEVSECOPS</a:t>
            </a:r>
          </a:p>
          <a:p>
            <a:pPr>
              <a:spcBef>
                <a:spcPts val="400"/>
              </a:spcBef>
            </a:pPr>
            <a:r>
              <a:rPr sz="2500" b="1">
                <a:solidFill>
                  <a:srgbClr val="1C1917"/>
                </a:solidFill>
                <a:latin typeface="Calibri"/>
              </a:rPr>
              <a:t>Aquasecurity Trivy Container Vulnerability Gating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78716C"/>
                </a:solidFill>
                <a:latin typeface="Calibri"/>
              </a:rPr>
              <a:t>Enforcing strict automated security compliance before container images are published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62895" cy="13716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48463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C1917"/>
                </a:solidFill>
                <a:latin typeface="Calibri"/>
              </a:rPr>
              <a:t>•  Automated CVE Gating
</a:t>
            </a:r>
            <a:r>
              <a:rPr sz="1100">
                <a:solidFill>
                  <a:srgbClr val="44403C"/>
                </a:solidFill>
                <a:latin typeface="Calibri"/>
              </a:rPr>
              <a:t>   Configured with --severity HIGH,CRITICAL and --exit-code 1 to actively reject vulnerable builds.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Vulnerability Identification
</a:t>
            </a:r>
            <a:r>
              <a:rPr sz="1100">
                <a:solidFill>
                  <a:srgbClr val="44403C"/>
                </a:solidFill>
                <a:latin typeface="Calibri"/>
              </a:rPr>
              <a:t>   Detected CVE-2025-62727 (Starlette HTTP Range DoS flaw) during backend scan with documented patch path.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Clean Frontend Verification
</a:t>
            </a:r>
            <a:r>
              <a:rPr sz="1100">
                <a:solidFill>
                  <a:srgbClr val="44403C"/>
                </a:solidFill>
                <a:latin typeface="Calibri"/>
              </a:rPr>
              <a:t>   Frontend Alpine container verified with zero HIGH and zero CRITICAL security vulnerabilities.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Continuous Security Posture
</a:t>
            </a:r>
            <a:r>
              <a:rPr sz="1100">
                <a:solidFill>
                  <a:srgbClr val="44403C"/>
                </a:solidFill>
                <a:latin typeface="Calibri"/>
              </a:rPr>
              <a:t>   Prevents vulnerable container images from ever reaching the production artifact registry.</a:t>
            </a:r>
          </a:p>
        </p:txBody>
      </p:sp>
      <p:pic>
        <p:nvPicPr>
          <p:cNvPr id="6" name="Picture 5" descr="04-trivy-scan-back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143236"/>
            <a:ext cx="5059375" cy="1531646"/>
          </a:xfrm>
          <a:prstGeom prst="rect">
            <a:avLst/>
          </a:prstGeom>
          <a:ln>
            <a:noFill/>
          </a:ln>
        </p:spPr>
      </p:pic>
      <p:sp>
        <p:nvSpPr>
          <p:cNvPr id="7" name="TextBox 6"/>
          <p:cNvSpPr txBox="1"/>
          <p:nvPr/>
        </p:nvSpPr>
        <p:spPr>
          <a:xfrm>
            <a:off x="6217920" y="5715000"/>
            <a:ext cx="50593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78716C"/>
                </a:solidFill>
                <a:latin typeface="Calibri"/>
              </a:rPr>
              <a:t>Artifact: Trivy CVE Security Scan &amp; Vulnerability Detection Output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6217920"/>
            <a:ext cx="10362895" cy="9144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30936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78716C"/>
                </a:solidFill>
                <a:latin typeface="Calibri"/>
              </a:rPr>
              <a:t>SevZero — Production SRE Incident &amp; Reliability Platform  |  Sathwik Perla (Roll: 590)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309360"/>
            <a:ext cx="213329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50" b="1">
                <a:solidFill>
                  <a:srgbClr val="78716C"/>
                </a:solidFill>
                <a:latin typeface="Calibri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B45309"/>
                </a:solidFill>
                <a:latin typeface="Calibri"/>
              </a:rPr>
              <a:t>MODULE 7 · CLOUD FOUNDATION</a:t>
            </a:r>
          </a:p>
          <a:p>
            <a:pPr>
              <a:spcBef>
                <a:spcPts val="400"/>
              </a:spcBef>
            </a:pPr>
            <a:r>
              <a:rPr sz="2500" b="1">
                <a:solidFill>
                  <a:srgbClr val="1C1917"/>
                </a:solidFill>
                <a:latin typeface="Calibri"/>
              </a:rPr>
              <a:t>AWS VPC &amp; Managed EKS Infrastructure via Terraform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78716C"/>
                </a:solidFill>
                <a:latin typeface="Calibri"/>
              </a:rPr>
              <a:t>Declarative Infrastructure as Code ensuring reproducible and auditable cloud environments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62895" cy="13716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48463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C1917"/>
                </a:solidFill>
                <a:latin typeface="Calibri"/>
              </a:rPr>
              <a:t>•  Multi-AZ VPC Architecture
</a:t>
            </a:r>
            <a:r>
              <a:rPr sz="1100">
                <a:solidFill>
                  <a:srgbClr val="44403C"/>
                </a:solidFill>
                <a:latin typeface="Calibri"/>
              </a:rPr>
              <a:t>   Provisions a robust 10.20.0.0/16 VPC across two availability zones (ap-south-1a and ap-south-1b).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Public &amp; Private Subnet Tiering
</a:t>
            </a:r>
            <a:r>
              <a:rPr sz="1100">
                <a:solidFill>
                  <a:srgbClr val="44403C"/>
                </a:solidFill>
                <a:latin typeface="Calibri"/>
              </a:rPr>
              <a:t>   Isolates EKS worker nodes in private subnets, while load balancers and NAT gateways reside in public subnets.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Modular Architecture
</a:t>
            </a:r>
            <a:r>
              <a:rPr sz="1100">
                <a:solidFill>
                  <a:srgbClr val="44403C"/>
                </a:solidFill>
                <a:latin typeface="Calibri"/>
              </a:rPr>
              <a:t>   Structured across clean modules (VPC, EKS, Node Groups) with parameterized input variables and output contracts.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Verified Code Integrity
</a:t>
            </a:r>
            <a:r>
              <a:rPr sz="1100">
                <a:solidFill>
                  <a:srgbClr val="44403C"/>
                </a:solidFill>
                <a:latin typeface="Calibri"/>
              </a:rPr>
              <a:t>   Validated via terraform init and terraform validate with zero syntax or provider configuration errors.</a:t>
            </a:r>
          </a:p>
        </p:txBody>
      </p:sp>
      <p:pic>
        <p:nvPicPr>
          <p:cNvPr id="6" name="Picture 5" descr="07-terraform-val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414980"/>
            <a:ext cx="5059375" cy="988159"/>
          </a:xfrm>
          <a:prstGeom prst="rect">
            <a:avLst/>
          </a:prstGeom>
          <a:ln>
            <a:noFill/>
          </a:ln>
        </p:spPr>
      </p:pic>
      <p:sp>
        <p:nvSpPr>
          <p:cNvPr id="7" name="TextBox 6"/>
          <p:cNvSpPr txBox="1"/>
          <p:nvPr/>
        </p:nvSpPr>
        <p:spPr>
          <a:xfrm>
            <a:off x="6217920" y="5715000"/>
            <a:ext cx="50593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78716C"/>
                </a:solidFill>
                <a:latin typeface="Calibri"/>
              </a:rPr>
              <a:t>Artifact: Terraform Validate: Configuration Successfully Verified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6217920"/>
            <a:ext cx="10362895" cy="9144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30936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78716C"/>
                </a:solidFill>
                <a:latin typeface="Calibri"/>
              </a:rPr>
              <a:t>SevZero — Production SRE Incident &amp; Reliability Platform  |  Sathwik Perla (Roll: 590)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309360"/>
            <a:ext cx="213329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50" b="1">
                <a:solidFill>
                  <a:srgbClr val="78716C"/>
                </a:solidFill>
                <a:latin typeface="Calibri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B45309"/>
                </a:solidFill>
                <a:latin typeface="Calibri"/>
              </a:rPr>
              <a:t>MODULE 8 · ORCHESTRATION</a:t>
            </a:r>
          </a:p>
          <a:p>
            <a:pPr>
              <a:spcBef>
                <a:spcPts val="400"/>
              </a:spcBef>
            </a:pPr>
            <a:r>
              <a:rPr sz="2500" b="1">
                <a:solidFill>
                  <a:srgbClr val="1C1917"/>
                </a:solidFill>
                <a:latin typeface="Calibri"/>
              </a:rPr>
              <a:t>Kubernetes Clustering, Ingress &amp; Autoscaling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78716C"/>
                </a:solidFill>
                <a:latin typeface="Calibri"/>
              </a:rPr>
              <a:t>Enterprise container orchestration with declarative Helm 3 package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62895" cy="13716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48463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C1917"/>
                </a:solidFill>
                <a:latin typeface="Calibri"/>
              </a:rPr>
              <a:t>•  Helm 3 Chart Packaging
</a:t>
            </a:r>
            <a:r>
              <a:rPr sz="1100">
                <a:solidFill>
                  <a:srgbClr val="44403C"/>
                </a:solidFill>
                <a:latin typeface="Calibri"/>
              </a:rPr>
              <a:t>   Custom chart in helm/sevzero/ packaging backend, frontend, postgres, ingress, and horizontal pod autoscaler.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Namespace Isolation
</a:t>
            </a:r>
            <a:r>
              <a:rPr sz="1100">
                <a:solidFill>
                  <a:srgbClr val="44403C"/>
                </a:solidFill>
                <a:latin typeface="Calibri"/>
              </a:rPr>
              <a:t>   All microservices run inside the dedicated 'sevzero' namespace with isolated RBAC and service accounts.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Ingress Host Routing
</a:t>
            </a:r>
            <a:r>
              <a:rPr sz="1100">
                <a:solidFill>
                  <a:srgbClr val="44403C"/>
                </a:solidFill>
                <a:latin typeface="Calibri"/>
              </a:rPr>
              <a:t>   Directs traffic via Nginx Ingress Controller under host 'sevzero.local', cleanly routing '/' to UI and '/api' to backend.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Dynamic HPA Autoscaling
</a:t>
            </a:r>
            <a:r>
              <a:rPr sz="1100">
                <a:solidFill>
                  <a:srgbClr val="44403C"/>
                </a:solidFill>
                <a:latin typeface="Calibri"/>
              </a:rPr>
              <a:t>   Horizontal Pod Autoscaler dynamically scales backend from 2 to 6 replicas when CPU exceeds 75% utilization.</a:t>
            </a:r>
          </a:p>
        </p:txBody>
      </p:sp>
      <p:pic>
        <p:nvPicPr>
          <p:cNvPr id="6" name="Picture 5" descr="11-kubectl-get-p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242052"/>
            <a:ext cx="5059375" cy="1334014"/>
          </a:xfrm>
          <a:prstGeom prst="rect">
            <a:avLst/>
          </a:prstGeom>
          <a:ln>
            <a:noFill/>
          </a:ln>
        </p:spPr>
      </p:pic>
      <p:sp>
        <p:nvSpPr>
          <p:cNvPr id="7" name="TextBox 6"/>
          <p:cNvSpPr txBox="1"/>
          <p:nvPr/>
        </p:nvSpPr>
        <p:spPr>
          <a:xfrm>
            <a:off x="6217920" y="5715000"/>
            <a:ext cx="50593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78716C"/>
                </a:solidFill>
                <a:latin typeface="Calibri"/>
              </a:rPr>
              <a:t>Artifact: Kubernetes Pods Running Healthy in 'sevzero' Namespace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6217920"/>
            <a:ext cx="10362895" cy="9144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30936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78716C"/>
                </a:solidFill>
                <a:latin typeface="Calibri"/>
              </a:rPr>
              <a:t>SevZero — Production SRE Incident &amp; Reliability Platform  |  Sathwik Perla (Roll: 590)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309360"/>
            <a:ext cx="213329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50" b="1">
                <a:solidFill>
                  <a:srgbClr val="78716C"/>
                </a:solidFill>
                <a:latin typeface="Calibri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B45309"/>
                </a:solidFill>
                <a:latin typeface="Calibri"/>
              </a:rPr>
              <a:t>MODULE 9 · SRE TELEMETRY</a:t>
            </a:r>
          </a:p>
          <a:p>
            <a:pPr>
              <a:spcBef>
                <a:spcPts val="400"/>
              </a:spcBef>
            </a:pPr>
            <a:r>
              <a:rPr sz="2500" b="1">
                <a:solidFill>
                  <a:srgbClr val="1C1917"/>
                </a:solidFill>
                <a:latin typeface="Calibri"/>
              </a:rPr>
              <a:t>Prometheus Metrics &amp; Grafana SRE Dashboard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78716C"/>
                </a:solidFill>
                <a:latin typeface="Calibri"/>
              </a:rPr>
              <a:t>Real-time monitoring of SRE 4 Golden Signals and service level reliability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62895" cy="13716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48463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C1917"/>
                </a:solidFill>
                <a:latin typeface="Calibri"/>
              </a:rPr>
              <a:t>•  OpenMetrics Telemetry
</a:t>
            </a:r>
            <a:r>
              <a:rPr sz="1100">
                <a:solidFill>
                  <a:srgbClr val="44403C"/>
                </a:solidFill>
                <a:latin typeface="Calibri"/>
              </a:rPr>
              <a:t>   FastAPI microservice exposes structured /metrics scraped every 15s by Prometheus Operator ServiceMonitor.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SRE 4 Golden Signals
</a:t>
            </a:r>
            <a:r>
              <a:rPr sz="1100">
                <a:solidFill>
                  <a:srgbClr val="44403C"/>
                </a:solidFill>
                <a:latin typeface="Calibri"/>
              </a:rPr>
              <a:t>   Comprehensive dashboard monitoring Request Latency (P50/P95/P99), Traffic throughput, Error rates, and Saturation.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Strict Latency SLO
</a:t>
            </a:r>
            <a:r>
              <a:rPr sz="1100">
                <a:solidFill>
                  <a:srgbClr val="44403C"/>
                </a:solidFill>
                <a:latin typeface="Calibri"/>
              </a:rPr>
              <a:t>   Demonstrated P95 latency of 18.4ms, comfortably satisfying the &lt; 50ms production reliability objective.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Zero Error Rate Tracked
</a:t>
            </a:r>
            <a:r>
              <a:rPr sz="1100">
                <a:solidFill>
                  <a:srgbClr val="44403C"/>
                </a:solidFill>
                <a:latin typeface="Calibri"/>
              </a:rPr>
              <a:t>   Maintained 0.00% 5xx server-side error rate across 4,300+ continuous benchmark requests.</a:t>
            </a:r>
          </a:p>
        </p:txBody>
      </p:sp>
      <p:pic>
        <p:nvPicPr>
          <p:cNvPr id="6" name="Picture 5" descr="20-grafana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328005"/>
            <a:ext cx="5059375" cy="3162109"/>
          </a:xfrm>
          <a:prstGeom prst="rect">
            <a:avLst/>
          </a:prstGeom>
          <a:ln>
            <a:noFill/>
          </a:ln>
        </p:spPr>
      </p:pic>
      <p:sp>
        <p:nvSpPr>
          <p:cNvPr id="7" name="TextBox 6"/>
          <p:cNvSpPr txBox="1"/>
          <p:nvPr/>
        </p:nvSpPr>
        <p:spPr>
          <a:xfrm>
            <a:off x="6217920" y="5715000"/>
            <a:ext cx="50593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78716C"/>
                </a:solidFill>
                <a:latin typeface="Calibri"/>
              </a:rPr>
              <a:t>Artifact: Grafana 11 Dashboard: SRE Golden Signals &amp; Telemetry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6217920"/>
            <a:ext cx="10362895" cy="9144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30936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78716C"/>
                </a:solidFill>
                <a:latin typeface="Calibri"/>
              </a:rPr>
              <a:t>SevZero — Production SRE Incident &amp; Reliability Platform  |  Sathwik Perla (Roll: 590)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309360"/>
            <a:ext cx="213329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50" b="1">
                <a:solidFill>
                  <a:srgbClr val="78716C"/>
                </a:solidFill>
                <a:latin typeface="Calibri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94360"/>
            <a:ext cx="1036289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B45309"/>
                </a:solidFill>
                <a:latin typeface="Calibri"/>
              </a:rPr>
              <a:t>MODULE 10 · VERIFICATION</a:t>
            </a:r>
          </a:p>
          <a:p>
            <a:pPr>
              <a:spcBef>
                <a:spcPts val="400"/>
              </a:spcBef>
            </a:pPr>
            <a:r>
              <a:rPr sz="2500" b="1">
                <a:solidFill>
                  <a:srgbClr val="1C1917"/>
                </a:solidFill>
                <a:latin typeface="Calibri"/>
              </a:rPr>
              <a:t>Production Troubleshooting &amp; Module Verification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78716C"/>
                </a:solidFill>
                <a:latin typeface="Calibri"/>
              </a:rPr>
              <a:t>Diagnostic incident triage verified with 23 visual screenshot proofs across all modules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62895" cy="13716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48463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C1917"/>
                </a:solidFill>
                <a:latin typeface="Calibri"/>
              </a:rPr>
              <a:t>•  Scenario 1: ImagePullBackOff Triage
</a:t>
            </a:r>
            <a:r>
              <a:rPr sz="1100">
                <a:solidFill>
                  <a:srgbClr val="44403C"/>
                </a:solidFill>
                <a:latin typeface="Calibri"/>
              </a:rPr>
              <a:t>   Diagnosed missing container registry tag (v999) using kubectl describe pod; resolved by pinning verified SHA digest.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Scenario 2: Empty Endpoints Triage
</a:t>
            </a:r>
            <a:r>
              <a:rPr sz="1100">
                <a:solidFill>
                  <a:srgbClr val="44403C"/>
                </a:solidFill>
                <a:latin typeface="Calibri"/>
              </a:rPr>
              <a:t>   Diagnosed connection refused error via kubectl get endpoints; resolved by realigning mismatched Service selector labels.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23 Verifiable Visual Artifacts
</a:t>
            </a:r>
            <a:r>
              <a:rPr sz="1100">
                <a:solidFill>
                  <a:srgbClr val="44403C"/>
                </a:solidFill>
                <a:latin typeface="Calibri"/>
              </a:rPr>
              <a:t>   Every technical milestone backed by high-resolution terminal and dashboard screenshot proofs.</a:t>
            </a:r>
          </a:p>
          <a:p>
            <a:pPr>
              <a:spcBef>
                <a:spcPts val="1600"/>
              </a:spcBef>
            </a:pPr>
            <a:r>
              <a:rPr sz="1300" b="1">
                <a:solidFill>
                  <a:srgbClr val="1C1917"/>
                </a:solidFill>
                <a:latin typeface="Calibri"/>
              </a:rPr>
              <a:t>•  Comprehensive Milestone Delivery
</a:t>
            </a:r>
            <a:r>
              <a:rPr sz="1100">
                <a:solidFill>
                  <a:srgbClr val="44403C"/>
                </a:solidFill>
                <a:latin typeface="Calibri"/>
              </a:rPr>
              <a:t>   Complete implementation of all 10 project modules with reproducible artifacts documented in README.md.</a:t>
            </a:r>
          </a:p>
        </p:txBody>
      </p:sp>
      <p:pic>
        <p:nvPicPr>
          <p:cNvPr id="6" name="Picture 5" descr="18-troubleshoot-broken-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390276"/>
            <a:ext cx="5059375" cy="1037567"/>
          </a:xfrm>
          <a:prstGeom prst="rect">
            <a:avLst/>
          </a:prstGeom>
          <a:ln>
            <a:noFill/>
          </a:ln>
        </p:spPr>
      </p:pic>
      <p:sp>
        <p:nvSpPr>
          <p:cNvPr id="7" name="TextBox 6"/>
          <p:cNvSpPr txBox="1"/>
          <p:nvPr/>
        </p:nvSpPr>
        <p:spPr>
          <a:xfrm>
            <a:off x="6217920" y="5715000"/>
            <a:ext cx="505937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78716C"/>
                </a:solidFill>
                <a:latin typeface="Calibri"/>
              </a:rPr>
              <a:t>Artifact: Root Cause Analysis: Service Endpoints Mismatch Triage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6217920"/>
            <a:ext cx="10362895" cy="9144"/>
          </a:xfrm>
          <a:prstGeom prst="rect">
            <a:avLst/>
          </a:prstGeom>
          <a:solidFill>
            <a:srgbClr val="E2DC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309360"/>
            <a:ext cx="73152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78716C"/>
                </a:solidFill>
                <a:latin typeface="Calibri"/>
              </a:rPr>
              <a:t>SevZero — Production SRE Incident &amp; Reliability Platform  |  Sathwik Perla (Roll: 590)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309360"/>
            <a:ext cx="213329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50" b="1">
                <a:solidFill>
                  <a:srgbClr val="78716C"/>
                </a:solidFill>
                <a:latin typeface="Calibri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