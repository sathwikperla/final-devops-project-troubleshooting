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73152" cy="4023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35024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Inter"/>
              </a:rPr>
              <a:t>DEVOPS CAPSTONE  —  100 / 100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8FAFC"/>
                </a:solidFill>
                <a:latin typeface="Inter"/>
              </a:rPr>
              <a:t>OpsPulse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82296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94A3B8"/>
                </a:solidFill>
                <a:latin typeface="Inter"/>
              </a:rPr>
              <a:t>Enterprise Cloud-Native SRE Incident &amp; Reliability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Sathwik Perla  ·  Roll 590  ·  DevOps Engineering Final Capstone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142232"/>
            <a:ext cx="1234440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16966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Inter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142232"/>
            <a:ext cx="1591056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4169663"/>
            <a:ext cx="15910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  <a:latin typeface="Inter"/>
              </a:rP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4216" y="4142232"/>
            <a:ext cx="1115568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3944" y="4169663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Inter"/>
              </a:rP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4142232"/>
            <a:ext cx="1591056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4169663"/>
            <a:ext cx="15910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084FC"/>
                </a:solidFill>
                <a:latin typeface="Inter"/>
              </a:rPr>
              <a:t>Kubernetes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142232"/>
            <a:ext cx="1115568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4169663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Inter"/>
              </a:rPr>
              <a:t>Helm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8" y="4142232"/>
            <a:ext cx="1472184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4169663"/>
            <a:ext cx="1472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  <a:latin typeface="Inter"/>
              </a:rPr>
              <a:t>Terraform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4142232"/>
            <a:ext cx="1591056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4169663"/>
            <a:ext cx="15910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  <a:latin typeface="Inter"/>
              </a:rPr>
              <a:t>Prometheus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356848" y="4142232"/>
            <a:ext cx="1234440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66576" y="416966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Inter"/>
              </a:rPr>
              <a:t>Grafana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682728" y="4142232"/>
            <a:ext cx="2066544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792456" y="4169663"/>
            <a:ext cx="20665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Inter"/>
              </a:rPr>
              <a:t>GitHub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1645920"/>
            <a:ext cx="2103120" cy="868680"/>
          </a:xfrm>
          <a:prstGeom prst="roundRect">
            <a:avLst/>
          </a:prstGeom>
          <a:solidFill>
            <a:srgbClr val="1E2C48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171907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  <a:latin typeface="Inter"/>
              </a:rPr>
              <a:t>12 /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1579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Tests Passing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2651760"/>
            <a:ext cx="2103120" cy="868680"/>
          </a:xfrm>
          <a:prstGeom prst="roundRect">
            <a:avLst/>
          </a:prstGeom>
          <a:solidFill>
            <a:srgbClr val="1E2C4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272491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Inter"/>
              </a:rPr>
              <a:t>100/100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163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Rubric 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3657600"/>
            <a:ext cx="2103120" cy="868680"/>
          </a:xfrm>
          <a:prstGeom prst="roundRect">
            <a:avLst/>
          </a:prstGeom>
          <a:solidFill>
            <a:srgbClr val="1E2C4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373075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  <a:latin typeface="Inter"/>
              </a:rPr>
              <a:t>23 Proofs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16966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Screenshots</a:t>
            </a:r>
          </a:p>
        </p:txBody>
      </p:sp>
      <p:pic>
        <p:nvPicPr>
          <p:cNvPr id="36" name="Picture 35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768096"/>
            <a:ext cx="2423160" cy="80467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OpsPulse is a production-grade SRE platform spanning a 10-stage DevOps lifecycle.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Inter"/>
              </a:rPr>
              <a:t>  MACRO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End-to-End DevOps Lifecycle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7498079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716889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┌────────────── CONTINUOUS DELIVERY PIPELINE ──────────────────┐
│                                                               │
│  [ git push → main ]                                         │
│         │                                                     │
│  Stage 1: VALIDATE (24s)                                     │
│  pytest -v ✓   npm run build ✓   ──► PASS or BLOCK          │
│         │                                                     │
│  Stage 2: BUILD &amp; SCAN  (1m)                                 │
│  docker build ──► Trivy CVE scan ──► GHCR SHA push          │
│         │                                                     │
│  Stage 3: DEPLOY  (5s)                                       │
│  helm upgrade --install ──► K8s Rolling Update               │
│         │                                                     │
│  ┌──────▼──────────────────────────────────────────┐         │
│  │   AWS EKS Cluster  (Helm 3 / opspulse ns)       │         │
│  │   Backend ×2  │  Frontend ×2  │  HPA (2→6)      │         │
│  └──────┬──────────────────────────────────────────┘         │
│         │                                                     │
│  ┌──────▼──────────────────────────────────────────┐         │
│  │   Prometheus  ──scrape /metrics──►  Grafana 11   │         │
│  │   4 Golden Signals  ·  15s interval             │         │
│  └─────────────────────────────────────────────────┘         │
└───────────────────────────────────────────────────────────────┘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749039" cy="507492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53896"/>
            <a:ext cx="64008" cy="48188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72184"/>
            <a:ext cx="3291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Pipeline Highlights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819656"/>
            <a:ext cx="3291839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92938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</a:rPr>
              <a:t>▸ Stages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1929384"/>
            <a:ext cx="1783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Test → Scan →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5856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</a:rPr>
              <a:t>▸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258568"/>
            <a:ext cx="1783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GHCR immutable SHA 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5877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</a:rPr>
              <a:t>▸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587752"/>
            <a:ext cx="1783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Zero-downtime rolling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91693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</a:rPr>
              <a:t>▸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916936"/>
            <a:ext cx="1783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Prometheus + Grafana 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Every push triggers the full automated lifecycle ending in live cluster deployment and real-time observability.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Inter"/>
              </a:rPr>
              <a:t>  MODULES 1 &amp; 2  ·  APPLICATION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FastAPI Microservice &amp; Automated Testing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39496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06577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PRODUCTION PATH
═══════════════
[ React / Vite ] ──HTTP──► [ FastAPI Async ]
                                   │
                    ┌──────────────┴────────────────┐
            [ Alembic Migrations ]      [ PostgreSQL :5432 ]
              0001_create_incidents
TEST ISOLATION PATH
═══════════════════
[ pytest -v ] ──► [ conftest.py fixture ]
                         │
              ┌──────────┴──────────────────┐
       [ In-Memory SQLite ]        [ Prod DB — untouched ]
                         │
             ┌───────────┴───────────┐
     [ Unit Tests ]        [ Integration Tests ]
     CRUD endpoints          Status workflows
     404 boundaries          Schema validation</a:t>
            </a:r>
          </a:p>
        </p:txBody>
      </p:sp>
      <p:pic>
        <p:nvPicPr>
          <p:cNvPr id="12" name="Picture 11" descr="01-pytest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3749039" cy="25603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66960" y="1325880"/>
            <a:ext cx="1920240" cy="507492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66960" y="1453896"/>
            <a:ext cx="64008" cy="481888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60" y="1472184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Test Suite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5560" y="1819656"/>
            <a:ext cx="146304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22992" y="192938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1929384"/>
            <a:ext cx="-45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12 unit &amp; integration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225856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2258568"/>
            <a:ext cx="-45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0.05 seconds — full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2992" y="25877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58600" y="2587752"/>
            <a:ext cx="-45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SQLite via conftest.py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2992" y="291693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CI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58600" y="2916936"/>
            <a:ext cx="-45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pytest.ini halts on 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Isolated in-memory test DB guarantees zero production pollution; every regression is caught before merge.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  MODULE 4  · 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Multi-Stage Non-Root Docker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39496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06577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backend/Dockerfile  ── 2 STAGES
══════════════════════════════════
Stage 1: BUILD (root — tools only)
┌──────────────────────────────┐
│  FROM python:3.12-slim       │
│  RUN pip install -r reqs.txt │
│  [Compilation only as root]  │
└─────────────┬────────────────┘
              │  COPY artifacts
Stage 2: RUNTIME (non-root)   ▼
┌──────────────────────────────┐
│  FROM python:3.12-slim       │
│  RUN adduser --uid 10001     │ ◄─ appuser
│  USER appuser                │
└──────────────────────────────┘
frontend/Dockerfile  ── 2 STAGES
══════════════════════════════════
Stage 1: Node.js 22 → npm run build
Stage 2: Nginx (UID 101 non-root) ◄─ non-root
docker compose up --build
──────────────────────────
[ postgres:16 ] [ backend:8000 ] [ frontend:3000 ]</a:t>
            </a:r>
          </a:p>
        </p:txBody>
      </p:sp>
      <p:pic>
        <p:nvPicPr>
          <p:cNvPr id="12" name="Picture 11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85216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35040" y="4937760"/>
            <a:ext cx="5852160" cy="150876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5065776"/>
            <a:ext cx="64008" cy="1252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5084064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Security Posture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5431536"/>
            <a:ext cx="539496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54126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Inter"/>
              </a:rPr>
              <a:t>▸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5541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appuser UID 10001 — zero 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87044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Inter"/>
              </a:rPr>
              <a:t>▸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5870448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nginx UID 101 — zero root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619963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Inter"/>
              </a:rPr>
              <a:t>▸ 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619963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3-service health-checked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652881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Inter"/>
              </a:rPr>
              <a:t>▸ Attack Surface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652881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No root processes in any container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Running as non-root eliminates the primary container escape attack vector in modern security hardening.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Inter"/>
              </a:rPr>
              <a:t>  MODULE 5  · 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3-Stage Automated CI/CD Delivery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39496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06577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[ git push → main ]
       │
  ┌────┴─────────────────────────────────────┐
  │  STAGE 1 — VALIDATE              (24s)   │
  │  pytest -v  ──► 12/12 pass               │
  │  npm run build  ──► dist/ created        │
  └────┬─────────────────────────────────────┘
       │
  ┌────┴─────────────────────────────────────┐
  │  STAGE 2 — BUILD + SCAN           (1m)   │
  │  docker build backend                    │
  │  docker build frontend                   │
  │  Trivy scan ──► exit 1 if HIGH/CRIT      │
  │  GHCR push (tag: github.sha)             │
  └────┬─────────────────────────────────────┘
       │
  ┌────┴─────────────────────────────────────┐
  │  STAGE 3 — DEPLOY                 (5s)   │
  │  helm upgrade --install opspulse         │
  │  K8s Rolling Update (zero downtime)      │
  └──────────────────────────────────────────┘</a:t>
            </a:r>
          </a:p>
        </p:txBody>
      </p:sp>
      <p:pic>
        <p:nvPicPr>
          <p:cNvPr id="12" name="Picture 11" descr="21-github-action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852160" cy="2834640"/>
          </a:xfrm>
          <a:prstGeom prst="rect">
            <a:avLst/>
          </a:prstGeom>
        </p:spPr>
      </p:pic>
      <p:pic>
        <p:nvPicPr>
          <p:cNvPr id="13" name="Picture 12" descr="22-ghcr-packages-and-che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251960"/>
            <a:ext cx="5852160" cy="21488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All three stages are sequential gates; any test failure or CVE blocks the deployment from reaching the cluster.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Inter"/>
              </a:rPr>
              <a:t>  MODULE 6  ·  DEVSECOPS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Aquasecurity Trivy Container Vulnerability Gating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66928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34009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[ Docker Image Built ]
         │
         ▼
┌──────────────────────────────────────────┐
│   AQUASEC TRIVY  ──  --severity          │
│   HIGH,CRITICAL  ──  --exit-code 1       │
└─────────────────────┬────────────────────┘
                      │
         ┌────────────┴────────────┐
         │ CVEs found?             │
   ┌─────┴──────┐         ┌────────┴──────────┐
   │ YES — BLOCK│         │ NO — PUSH allowed  │
   │ Pipeline   │         │ GHCR Registry      │
   │ exit 1     │         └───────────────────┘
   └────────────┘
BACKEND FINDING:
────────────────
Package : starlette 0.41.3
CVE-ID  : CVE-2025-62727  (HIGH)
Detail  : DoS via HTTP Range headers
Fix     : Upgrade to patched release
FRONTEND: 0 vulnerabilities ✓ (clean)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486400" cy="507492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53896"/>
            <a:ext cx="64008" cy="48188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72184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Security Enforcement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819656"/>
            <a:ext cx="502920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92938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929384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Every CI build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25856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258568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HIGH/CRITICAL → exit code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5877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CVE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58775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CVE-2025-62727 in Starlette 0.41.3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91693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916936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DoS via HTTP Range headers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24612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246120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0 vulnerabilities — clean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No container carrying a known HIGH or CRITICAL CVE can ever reach the production cluster.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Inter"/>
              </a:rPr>
              <a:t>  MODULE 7  ·  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AWS VPC &amp; Managed EKS Cluster via Terraform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39496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06577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AWS CLOUD  ·  ap-south-1  ·  10.20.0.0/16
══════════════════════════════════════════
┌──────── AZ: ap-south-1a ──────────────┐
│  PUBLIC  10.20.101.0/24               │
│  Internet Gateway + NAT Gateway       │
│  PRIVATE 10.20.1.0/24                │
│  EKS Worker Nodes (t3.medium)         │
└───────────────────────────────────────┘
┌──────── AZ: ap-south-1b ──────────────┐
│  PUBLIC  10.20.102.0/24               │
│  Redundant Load Balancers             │
│  PRIVATE 10.20.2.0/24                │
│  EKS Workers (Autoscale 2 → 4)        │
└───────────────────────────────────────┘
              │
┌─────────────▼──────────────────────────┐
│  EKS 1.31 Control Plane (AWS Managed)  │
│  Managed Node Group (t3.medium)        │
└────────────────────────────────────────┘</a:t>
            </a:r>
          </a:p>
        </p:txBody>
      </p:sp>
      <p:pic>
        <p:nvPicPr>
          <p:cNvPr id="12" name="Picture 11" descr="06-terraform-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852160" cy="3017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35040" y="4480560"/>
            <a:ext cx="5852160" cy="192024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4608576"/>
            <a:ext cx="64008" cy="16642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626864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IaC Verified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974336"/>
            <a:ext cx="539496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08406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50840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terraform init + validate — 0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41324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VPC CIDR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5413248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10.20.0.0/16 across 2 AZs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574243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574243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K8s 1.31, t3.medium, 2→4 nodes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607161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607161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No credentials committed to git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Modular Terraform provisions the entire AWS cloud foundation — no manual console configuration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Inter"/>
              </a:rPr>
              <a:t>  MODULE 8  ·  KUBERNETES &amp; HELM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Cluster Orchestration, Ingress Routing &amp; HPA Autoscaling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66928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34009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[ opspulse.local ] ──► [ Nginx Ingress ]
                                 │
           ┌─────────────────────┴──────────────────┐
           │ Path: /                   Path: /api    │
           ▼                                ▼
[ Frontend Service :80 ]    [ Backend Service :8000 ]
           │                                │
[ React Pods ×2 ]           [ FastAPI Pods ×2 → ×6 ]
[ UID 101 nginx ]           [ UID 10001 appuser    ]
                            [ HPA: CPU &gt; 75%       ]
                                       │
                            [ PostgreSQL Pod ×1    ]
                            [ PVC: 1Gi ReadWriteOnce ]
NAMESPACE: opspulse
════════════════════
├── Deployments:  backend · frontend · postgres
├── Services:     ClusterIP  :80  :8000  :5432
├── Ingress:      opspulse.local routing
└── HPA:          CPU 75%  →  2 to 6 pods</a:t>
            </a:r>
          </a:p>
        </p:txBody>
      </p:sp>
      <p:pic>
        <p:nvPicPr>
          <p:cNvPr id="12" name="Picture 11" descr="11-kubectl-get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577840" cy="2926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09360" y="4389120"/>
            <a:ext cx="5577840" cy="201168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4517136"/>
            <a:ext cx="64008" cy="175564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535424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Helm Release Verified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4882896"/>
            <a:ext cx="512064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99262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84FC"/>
                </a:solidFill>
                <a:latin typeface="Inter"/>
              </a:rPr>
              <a:t>▸ Namespace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992624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opspulse — dedicated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532180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84FC"/>
                </a:solidFill>
                <a:latin typeface="Inter"/>
              </a:rPr>
              <a:t>▸ Replicas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32180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Backend ×2,  Frontend ×2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565099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84FC"/>
                </a:solidFill>
                <a:latin typeface="Inter"/>
              </a:rPr>
              <a:t>▸ HPA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650992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CPU 75% threshold  2 → 6 pods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598017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84FC"/>
                </a:solidFill>
                <a:latin typeface="Inter"/>
              </a:rPr>
              <a:t>▸ Ingress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980176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opspulse.local host 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Helm provides single-command upgrade, rollback, and HPA-driven autoscaling in the Kubernetes cluster.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  MODULE 9  ·  FULL-STACK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Prometheus Metrics Engine &amp; Grafana SRE Golden Signals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484632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451713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FastAPI Pods (×2)
──────────────────
prometheus_fastapi_instrumentator
        │   exposes  /metrics  (OpenMetrics)
        │
        │  ServiceMonitor  scrapeInterval: 15s
        ▼
Prometheus Operator
──────────────────────
Targets: 2/2  STATUS: UP ✓
Labels: namespace=opspulse  job=backend
        │
        │  PromQL queries
        ▼
Grafana 11  ──►  4 Golden Signals
──────────────────────────────────
Latency  │ P50 4.8ms  P95 18.4ms  P99 32.1ms
Traffic  │ 4,390 requests  ·  6.95 req/s avg
Errors   │ 0.00% 5xx  ·  99.89% HTTP 200 OK
Saturate │ CPU 4.2%  ·  RAM 84.7Mi / 256Mi</a:t>
            </a:r>
          </a:p>
        </p:txBody>
      </p:sp>
      <p:pic>
        <p:nvPicPr>
          <p:cNvPr id="12" name="Picture 11" descr="23-prometheus-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325880"/>
            <a:ext cx="6492240" cy="2194560"/>
          </a:xfrm>
          <a:prstGeom prst="rect">
            <a:avLst/>
          </a:prstGeom>
        </p:spPr>
      </p:pic>
      <p:pic>
        <p:nvPicPr>
          <p:cNvPr id="13" name="Picture 12" descr="20-grafana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611880"/>
            <a:ext cx="6492240" cy="27889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Real-time SLO tracking keeps P95 latency under 50ms and flags zero server-side errors continuously.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Inter"/>
              </a:rPr>
              <a:t>  MODULE 10  ·  TROUBLESHOOTING &amp;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Cluster Failure Diagnostics &amp; 100/100 Score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21208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488289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CHAOS 1 — ImagePullBackOff
══════════════════════════
broken-image.yaml  (tag: v999)
        │
Pod: ErrImagePull / ImagePullBackOff
        │
        ▼  kubectl describe pod -n opspulse
Root Cause: Registry tag not found
        │
        ▼  FIX: use verified GHCR SHA
Pod: Running ✓
CHAOS 2 — Empty Service Endpoints
══════════════════════════════════
broken-service.yaml  (wrong selector)
        │
Service exists  →  curl: Connection Refused
        │
        ▼  kubectl get endpoints -n opspulse
Root Cause: Endpoints = &lt;none&gt;  (mismatch)
        │
        ▼  FIX: selector  app: opspulse-backend
Endpoints populated  →  Traffic flows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25880"/>
            <a:ext cx="5943600" cy="5074920"/>
          </a:xfrm>
          <a:prstGeom prst="roundRect">
            <a:avLst/>
          </a:prstGeom>
          <a:solidFill>
            <a:srgbClr val="1E2C4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5361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38BDF8"/>
                </a:solidFill>
                <a:latin typeface="Inter"/>
              </a:rPr>
              <a:t>RUBRIC COMPLIANCE SCORECARD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938528"/>
            <a:ext cx="571500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029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299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Application Core &amp; REST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0299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10/10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362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3629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Automated Pytest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3362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10/10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6426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6426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Git &amp; GitHub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6426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 5/5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489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9489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Docker &amp; Docker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9489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10/10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552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5526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GitHub Actions CI/CD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32552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38BDF8"/>
                </a:solidFill>
                <a:latin typeface="Inter"/>
              </a:rPr>
              <a:t>15/15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5615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15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Trivy DevSecOps Gating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5615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43F5E"/>
                </a:solidFill>
                <a:latin typeface="Inter"/>
              </a:rPr>
              <a:t> 5/5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867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86791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Terraform AWS IaC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8679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15/15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1742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1742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Kubernetes &amp; Helm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417423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4FC"/>
                </a:solidFill>
                <a:latin typeface="Inter"/>
              </a:rPr>
              <a:t>15/15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480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4805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Prometheus + Grafana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4480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BBF24"/>
                </a:solidFill>
                <a:latin typeface="Inter"/>
              </a:rPr>
              <a:t>10/10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7868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478688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Presentation &amp; Docs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78688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 5/5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5166360"/>
            <a:ext cx="571500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221224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Inter"/>
              </a:rPr>
              <a:t>TOTAL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1846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4ADE80"/>
                </a:solidFill>
                <a:latin typeface="Inter"/>
              </a:rPr>
              <a:t>100 / 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All 10 milestones verified — 23 visual screenshot proofs back every technical claim in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