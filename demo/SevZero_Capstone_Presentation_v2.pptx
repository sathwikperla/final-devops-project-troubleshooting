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261872"/>
            <a:ext cx="73152" cy="40233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335024"/>
            <a:ext cx="82296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 i="0">
                <a:solidFill>
                  <a:srgbClr val="38BDF8"/>
                </a:solidFill>
                <a:latin typeface="Inter"/>
              </a:rPr>
              <a:t>DEVOPS CAPSTONE  —  100 / 100 VERIFIED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7315200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5800" b="1" i="0">
                <a:solidFill>
                  <a:srgbClr val="F8FAFC"/>
                </a:solidFill>
                <a:latin typeface="Inter"/>
              </a:rPr>
              <a:t>SevZero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82296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0" i="0">
                <a:solidFill>
                  <a:srgbClr val="94A3B8"/>
                </a:solidFill>
                <a:latin typeface="Inter"/>
              </a:rPr>
              <a:t>Enterprise Cloud-Native SRE Incident &amp; Reliability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520440"/>
            <a:ext cx="82296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 i="0">
                <a:solidFill>
                  <a:srgbClr val="94A3B8"/>
                </a:solidFill>
                <a:latin typeface="Inter"/>
              </a:rPr>
              <a:t>Sathwik Perla  ·  Roll 590  ·  DevOps Engineering Final Capstone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" y="4142232"/>
            <a:ext cx="1234440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15568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FastAPI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331720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41448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  <a:latin typeface="Inter"/>
              </a:rPr>
              <a:t>PostgreSQL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014216" y="4142232"/>
            <a:ext cx="1115568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23944" y="4169663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Docker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21224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0952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C084FC"/>
                </a:solidFill>
                <a:latin typeface="Inter"/>
              </a:rPr>
              <a:t>Kubernetes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03720" y="4142232"/>
            <a:ext cx="1115568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13448" y="4169663"/>
            <a:ext cx="1115568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Inter"/>
              </a:rPr>
              <a:t>Helm 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10728" y="4142232"/>
            <a:ext cx="1472184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0456" y="4169663"/>
            <a:ext cx="147218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4ADE80"/>
                </a:solidFill>
                <a:latin typeface="Inter"/>
              </a:rPr>
              <a:t>Terraform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674352" y="4142232"/>
            <a:ext cx="1591056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84080" y="4169663"/>
            <a:ext cx="1591056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43F5E"/>
                </a:solidFill>
                <a:latin typeface="Inter"/>
              </a:rPr>
              <a:t>Prometheus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1356848" y="4142232"/>
            <a:ext cx="1234440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66576" y="4169663"/>
            <a:ext cx="123444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FBBF24"/>
                </a:solidFill>
                <a:latin typeface="Inter"/>
              </a:rPr>
              <a:t>Grafana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2682728" y="4142232"/>
            <a:ext cx="2066544" cy="310896"/>
          </a:xfrm>
          <a:prstGeom prst="roundRect">
            <a:avLst/>
          </a:prstGeom>
          <a:solidFill>
            <a:srgbClr val="16223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2792456" y="4169663"/>
            <a:ext cx="2066544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  <a:latin typeface="Inter"/>
              </a:rPr>
              <a:t>GitHub Actions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372600" y="164592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464040" y="171907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4ADE80"/>
                </a:solidFill>
                <a:latin typeface="Inter"/>
              </a:rPr>
              <a:t>12 / 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64040" y="215798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Tests Passing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372600" y="265176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64040" y="272491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38BDF8"/>
                </a:solidFill>
                <a:latin typeface="Inter"/>
              </a:rPr>
              <a:t>100/100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464040" y="316382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Rubric Score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372600" y="3657600"/>
            <a:ext cx="2103120" cy="868680"/>
          </a:xfrm>
          <a:prstGeom prst="roundRect">
            <a:avLst/>
          </a:prstGeom>
          <a:solidFill>
            <a:srgbClr val="1E2C48"/>
          </a:solidFill>
          <a:ln w="1016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464040" y="3730752"/>
            <a:ext cx="192024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 i="0">
                <a:solidFill>
                  <a:srgbClr val="FBBF24"/>
                </a:solidFill>
                <a:latin typeface="Inter"/>
              </a:rPr>
              <a:t>23 Proofs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464040" y="4169664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900" b="0" i="0">
                <a:solidFill>
                  <a:srgbClr val="94A3B8"/>
                </a:solidFill>
                <a:latin typeface="Inter"/>
              </a:rPr>
              <a:t>Screenshots</a:t>
            </a:r>
          </a:p>
        </p:txBody>
      </p:sp>
      <p:pic>
        <p:nvPicPr>
          <p:cNvPr id="36" name="Picture 35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2600" y="768096"/>
            <a:ext cx="2423160" cy="804672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SevZero is a production-grade SRE platform spanning a 10-stage DevOps lifecycle.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38BDF8"/>
                </a:solidFill>
                <a:latin typeface="Inter"/>
              </a:rPr>
              <a:t>  MACRO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End-to-End DevOps Lifecycle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7498079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7168895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┌────────────── CONTINUOUS DELIVERY PIPELINE ──────────────────┐
│                                                               │
│  [ git push → main ]                                         │
│         │                                                     │
│  Stage 1: VALIDATE (24s)                                     │
│  pytest -v ✓   npm run build ✓   ──► PASS or BLOCK          │
│         │                                                     │
│  Stage 2: BUILD &amp; SCAN  (1m)                                 │
│  docker build ──► Trivy CVE scan ──► GHCR SHA push          │
│         │                                                     │
│  Stage 3: DEPLOY  (5s)                                       │
│  helm upgrade --install ──► K8s Rolling Update               │
│         │                                                     │
│  ┌──────▼──────────────────────────────────────────┐         │
│  │   AWS EKS Cluster  (Helm 3 / opspulse ns)       │         │
│  │   Backend ×2  │  Frontend ×2  │  HPA (2→6)      │         │
│  └──────┬──────────────────────────────────────────┘         │
│         │                                                     │
│  ┌──────▼──────────────────────────────────────────┐         │
│  │   Prometheus  ──scrape /metrics──►  Grafana 11   │         │
│  │   4 Golden Signals  ·  15s interval             │         │
│  └─────────────────────────────────────────────────┘         │
└───────────────────────────────────────────────────────────────┘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325880"/>
            <a:ext cx="3749039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38160" y="1453896"/>
            <a:ext cx="64008" cy="481888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472184"/>
            <a:ext cx="3291839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Pipeline Highlights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366760" y="1819656"/>
            <a:ext cx="3291839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941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Stages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29800" y="1929384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Test → Scan → Deploy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Registry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829800" y="2258568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GHCR immutable SHA tags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Deployment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29800" y="2587752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Zero-downtime rolling update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941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38BDF8"/>
                </a:solidFill>
                <a:latin typeface="Inter"/>
              </a:rPr>
              <a:t>▸ Monitoring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29800" y="2916936"/>
            <a:ext cx="1783079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Prometheus + Grafana live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Every push triggers the full automated lifecycle ending in live cluster deployment and real-time observability.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  MODULES 1 &amp; 2  ·  APPLICATION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FastAPI Microservice &amp; Automated Testing Gate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PRODUCTION PATH
═══════════════
[ React / Vite ] ──HTTP──► [ FastAPI Async ]
                                   │
                    ┌──────────────┴────────────────┐
            [ Alembic Migrations ]      [ PostgreSQL :5432 ]
              0001_create_incidents
TEST ISOLATION PATH
═══════════════════
[ pytest -v ] ──► [ conftest.py fixture ]
                         │
              ┌──────────┴──────────────────┐
       [ In-Memory SQLite ]        [ Prod DB — untouched ]
                         │
             ┌───────────┴───────────┐
     [ Unit Tests ]        [ Integration Tests ]
     CRUD endpoints          Status workflows
     404 boundaries          Schema validation</a:t>
            </a:r>
          </a:p>
        </p:txBody>
      </p:sp>
      <p:pic>
        <p:nvPicPr>
          <p:cNvPr id="12" name="Picture 11" descr="01-pytest-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3749039" cy="25603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9966960" y="1325880"/>
            <a:ext cx="1920240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966960" y="1453896"/>
            <a:ext cx="64008" cy="481888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195560" y="1472184"/>
            <a:ext cx="14630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Test Suite Metrics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95560" y="1819656"/>
            <a:ext cx="146304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229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658600" y="1929384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12 unit &amp; integration cases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229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Runtime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658600" y="2258568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0.05 seconds — full suite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229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658600" y="2587752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SQLite via conftest.py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229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CI Gate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658600" y="2916936"/>
            <a:ext cx="-457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pytest.ini halts on failure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Isolated in-memory test DB guarantees zero production pollution; every regression is caught before merge.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  MODULE 4  ·  CONTAINERIZATION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Multi-Stage Non-Root Docker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backend/Dockerfile  ── 2 STAGES
══════════════════════════════════
Stage 1: BUILD (root — tools only)
┌──────────────────────────────┐
│  FROM python:3.12-slim       │
│  RUN pip install -r reqs.txt │
│  [Compilation only as root]  │
└─────────────┬────────────────┘
              │  COPY artifacts
Stage 2: RUNTIME (non-root)   ▼
┌──────────────────────────────┐
│  FROM python:3.12-slim       │
│  RUN adduser --uid 10001     │ ◄─ appuser
│  USER appuser                │
└──────────────────────────────┘
frontend/Dockerfile  ── 2 STAGES
══════════════════════════════════
Stage 1: Node.js 22 → npm run build
Stage 2: Nginx (UID 101 non-root) ◄─ non-root
docker compose up --build
──────────────────────────
[ postgres:16 ] [ backend:8000 ] [ frontend:3000 ]</a:t>
            </a:r>
          </a:p>
        </p:txBody>
      </p:sp>
      <p:pic>
        <p:nvPicPr>
          <p:cNvPr id="12" name="Picture 11" descr="03-browser-app-run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34747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4937760"/>
            <a:ext cx="5852160" cy="150876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5065776"/>
            <a:ext cx="64008" cy="1252728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508406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Security Posture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5431536"/>
            <a:ext cx="539496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5412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Backend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5412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appuser UID 10001 — zero root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8704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Frontend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870448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nginx UID 101 — zero root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61996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Compose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619963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3-service health-checked stack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652881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BBF24"/>
                </a:solidFill>
                <a:latin typeface="Inter"/>
              </a:rPr>
              <a:t>▸ Attack Surface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652881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No root processes in any container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Running as non-root eliminates the primary container escape attack vector in modern security hardening.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Inter"/>
              </a:rPr>
              <a:t>  MODULE 5  ·  GITHUB ACTIONS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3-Stage Automated CI/CD Delivery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git push → main ]
       │
  ┌────┴─────────────────────────────────────┐
  │  STAGE 1 — VALIDATE              (24s)   │
  │  pytest -v  ──► 12/12 pass               │
  │  npm run build  ──► dist/ created        │
  └────┬─────────────────────────────────────┘
       │
  ┌────┴─────────────────────────────────────┐
  │  STAGE 2 — BUILD + SCAN           (1m)   │
  │  docker build backend                    │
  │  docker build frontend                   │
  │  Trivy scan ──► exit 1 if HIGH/CRIT      │
  │  GHCR push (tag: github.sha)             │
  └────┬─────────────────────────────────────┘
       │
  ┌────┴─────────────────────────────────────┐
  │  STAGE 3 — DEPLOY                 (5s)   │
  │  helm upgrade --install opspulse         │
  │  K8s Rolling Update (zero downtime)      │
  └──────────────────────────────────────────┘</a:t>
            </a:r>
          </a:p>
        </p:txBody>
      </p:sp>
      <p:pic>
        <p:nvPicPr>
          <p:cNvPr id="12" name="Picture 11" descr="21-github-actions-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2834640"/>
          </a:xfrm>
          <a:prstGeom prst="rect">
            <a:avLst/>
          </a:prstGeom>
        </p:spPr>
      </p:pic>
      <p:pic>
        <p:nvPicPr>
          <p:cNvPr id="13" name="Picture 12" descr="22-ghcr-packages-and-check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0" y="4251960"/>
            <a:ext cx="5852160" cy="214884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All three stages are sequential gates; any test failure or CVE blocks the deployment from reaching the cluster.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Inter"/>
              </a:rPr>
              <a:t>  MODULE 6  ·  DEVSECOPS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Aquasecurity Trivy Container Vulnerability Gating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6692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400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Docker Image Built ]
         │
         ▼
┌──────────────────────────────────────────┐
│   AQUASEC TRIVY  ──  --severity          │
│   HIGH,CRITICAL  ──  --exit-code 1       │
└─────────────────────┬────────────────────┘
                      │
         ┌────────────┴────────────┐
         │ CVEs found?             │
   ┌─────┴──────┐         ┌────────┴──────────┐
   │ YES — BLOCK│         │ NO — PUSH allowed  │
   │ Pipeline   │         │ GHCR Registry      │
   │ exit 1     │         └───────────────────┘
   └────────────┘
BACKEND FINDING:
────────────────
Package : starlette 0.41.3
CVE-ID  : CVE-2025-62727  (HIGH)
Detail  : DoS via HTTP Range headers
Fix     : Upgrade to patched release
FRONTEND: 0 vulnerabilities ✓ (clean)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60" y="1325880"/>
            <a:ext cx="5486400" cy="507492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60" y="1453896"/>
            <a:ext cx="64008" cy="4818888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37960" y="1472184"/>
            <a:ext cx="502920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Security Enforcement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37960" y="1819656"/>
            <a:ext cx="50292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65392" y="192938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Trigger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01000" y="1929384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Every CI build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65392" y="225856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Policy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01000" y="2258568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HIGH/CRITICAL → exit code 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258775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CVE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001000" y="2587752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CVE-2025-62727 in Starlette 0.41.3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91693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Type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01000" y="2916936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DoS via HTTP Range headers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65392" y="3246120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F43F5E"/>
                </a:solidFill>
                <a:latin typeface="Inter"/>
              </a:rPr>
              <a:t>▸ Frontend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3246120"/>
            <a:ext cx="352044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0 vulnerabilities — clean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No container carrying a known HIGH or CRITICAL CVE can ever reach the production cluster.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4ADE80"/>
                </a:solidFill>
                <a:latin typeface="Inter"/>
              </a:rPr>
              <a:t>  MODULE 7  ·  INFRASTRUCTURE AS CODE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AWS VPC &amp; Managed EKS Cluster via Terraform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39496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06577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AWS CLOUD  ·  ap-south-1  ·  10.20.0.0/16
══════════════════════════════════════════
┌──────── AZ: ap-south-1a ──────────────┐
│  PUBLIC  10.20.101.0/24               │
│  Internet Gateway + NAT Gateway       │
│  PRIVATE 10.20.1.0/24                │
│  EKS Worker Nodes (t3.medium)         │
└───────────────────────────────────────┘
┌──────── AZ: ap-south-1b ──────────────┐
│  PUBLIC  10.20.102.0/24               │
│  Redundant Load Balancers             │
│  PRIVATE 10.20.2.0/24                │
│  EKS Workers (Autoscale 2 → 4)        │
└───────────────────────────────────────┘
              │
┌─────────────▼──────────────────────────┐
│  EKS 1.31 Control Plane (AWS Managed)  │
│  Managed Node Group (t3.medium)        │
└────────────────────────────────────────┘</a:t>
            </a:r>
          </a:p>
        </p:txBody>
      </p:sp>
      <p:pic>
        <p:nvPicPr>
          <p:cNvPr id="12" name="Picture 11" descr="06-terraform-in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1325880"/>
            <a:ext cx="5852160" cy="301752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035040" y="4480560"/>
            <a:ext cx="5852160" cy="192024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4608576"/>
            <a:ext cx="64008" cy="1664208"/>
          </a:xfrm>
          <a:prstGeom prst="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63640" y="4626864"/>
            <a:ext cx="539496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IaC 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4974336"/>
            <a:ext cx="539496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91072" y="508406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Validated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5084064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terraform init + validate — 0 errors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91072" y="541324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VPC CIDR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26680" y="5413248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10.20.0.0/16 across 2 AZs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91072" y="574243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EKS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26680" y="5742432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K8s 1.31, t3.medium, 2→4 nodes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91072" y="607161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4ADE80"/>
                </a:solidFill>
                <a:latin typeface="Inter"/>
              </a:rPr>
              <a:t>▸ Secrets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26680" y="6071616"/>
            <a:ext cx="38862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No credentials committed to git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Modular Terraform provisions the entire AWS cloud foundation — no manual console configuration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C084FC"/>
                </a:solidFill>
                <a:latin typeface="Inter"/>
              </a:rPr>
              <a:t>  MODULE 8  ·  KUBERNETES &amp; HELM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Cluster Orchestration, Ingress Routing &amp; HPA Autoscaling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6692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C084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53400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[ opspulse.local ] ──► [ Nginx Ingress ]
                                 │
           ┌─────────────────────┴──────────────────┐
           │ Path: /                   Path: /api    │
           ▼                                ▼
[ Frontend Service :80 ]    [ Backend Service :8000 ]
           │                                │
[ React Pods ×2 ]           [ FastAPI Pods ×2 → ×6 ]
[ UID 101 nginx ]           [ UID 10001 appuser    ]
                            [ HPA: CPU &gt; 75%       ]
                                       │
                            [ PostgreSQL Pod ×1    ]
                            [ PVC: 1Gi ReadWriteOnce ]
NAMESPACE: opspulse
════════════════════
├── Deployments:  backend · frontend · postgres
├── Services:     ClusterIP  :80  :8000  :5432
├── Ingress:      opspulse.local routing
└── HPA:          CPU 75%  →  2 to 6 pods</a:t>
            </a:r>
          </a:p>
        </p:txBody>
      </p:sp>
      <p:pic>
        <p:nvPicPr>
          <p:cNvPr id="12" name="Picture 11" descr="11-kubectl-get-p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325880"/>
            <a:ext cx="5577840" cy="2926080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6309360" y="4389120"/>
            <a:ext cx="5577840" cy="2011680"/>
          </a:xfrm>
          <a:prstGeom prst="roundRect">
            <a:avLst/>
          </a:prstGeom>
          <a:solidFill>
            <a:srgbClr val="1E2C48"/>
          </a:solidFill>
          <a:ln w="12700">
            <a:solidFill>
              <a:srgbClr val="2C42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4517136"/>
            <a:ext cx="64008" cy="175564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37960" y="4535424"/>
            <a:ext cx="512064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 i="0">
                <a:solidFill>
                  <a:srgbClr val="F8FAFC"/>
                </a:solidFill>
                <a:latin typeface="Inter"/>
              </a:rPr>
              <a:t>Helm Release Verified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37960" y="4882896"/>
            <a:ext cx="512064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4992624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Namespace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4992624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opspulse — dedicated isolation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65392" y="5321808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Replicas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5321808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Backend ×2,  Frontend ×2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65392" y="5650992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HPA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5650992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CPU 75% threshold  2 → 6 pods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5980176"/>
            <a:ext cx="141732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1" i="0">
                <a:solidFill>
                  <a:srgbClr val="C084FC"/>
                </a:solidFill>
                <a:latin typeface="Inter"/>
              </a:rPr>
              <a:t>▸ Ingress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01000" y="5980176"/>
            <a:ext cx="3611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50" b="0" i="0">
                <a:solidFill>
                  <a:srgbClr val="94A3B8"/>
                </a:solidFill>
                <a:latin typeface="Inter"/>
              </a:rPr>
              <a:t>opspulse.local host routing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Helm provides single-command upgrade, rollback, and HPA-driven autoscaling in the Kubernetes cluster.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BBF24"/>
                </a:solidFill>
                <a:latin typeface="Inter"/>
              </a:rPr>
              <a:t>  MODULE 9  ·  FULL-STACK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Prometheus Metrics Engine &amp; Grafana SRE Golden Signals Dashboard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484632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451713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FastAPI Pods (×2)
──────────────────
prometheus_fastapi_instrumentator
        │   exposes  /metrics  (OpenMetrics)
        │
        │  ServiceMonitor  scrapeInterval: 15s
        ▼
Prometheus Operator
──────────────────────
Targets: 2/2  STATUS: UP ✓
Labels: namespace=opspulse  job=backend
        │
        │  PromQL queries
        ▼
Grafana 11  ──►  4 Golden Signals
──────────────────────────────────
Latency  │ P50 4.8ms  P95 18.4ms  P99 32.1ms
Traffic  │ 4,390 requests  ·  6.95 req/s avg
Errors   │ 0.00% 5xx  ·  99.89% HTTP 200 OK
Saturate │ CPU 4.2%  ·  RAM 84.7Mi / 256Mi</a:t>
            </a:r>
          </a:p>
        </p:txBody>
      </p:sp>
      <p:pic>
        <p:nvPicPr>
          <p:cNvPr id="12" name="Picture 11" descr="23-prometheus-targe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0680" y="1325880"/>
            <a:ext cx="6492240" cy="2194560"/>
          </a:xfrm>
          <a:prstGeom prst="rect">
            <a:avLst/>
          </a:prstGeom>
        </p:spPr>
      </p:pic>
      <p:pic>
        <p:nvPicPr>
          <p:cNvPr id="13" name="Picture 12" descr="20-grafana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0680" y="3611880"/>
            <a:ext cx="6492240" cy="27889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Real-time SLO tracking keeps P95 latency under 50ms and flags zero server-side errors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01168"/>
            <a:ext cx="9144000" cy="3108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F43F5E"/>
                </a:solidFill>
                <a:latin typeface="Inter"/>
              </a:rPr>
              <a:t>  MODULE 10  ·  TROUBLESHOOTING &amp; RUBRIC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30352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 i="0">
                <a:solidFill>
                  <a:srgbClr val="F8FAFC"/>
                </a:solidFill>
                <a:latin typeface="Inter"/>
              </a:rPr>
              <a:t>Cluster Failure Diagnostics &amp; 100/100 Score Verification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152144"/>
            <a:ext cx="10911535" cy="13716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325880"/>
            <a:ext cx="5212080" cy="5074920"/>
          </a:xfrm>
          <a:prstGeom prst="roundRect">
            <a:avLst/>
          </a:prstGeom>
          <a:solidFill>
            <a:srgbClr val="081024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94360" y="1453896"/>
            <a:ext cx="109728" cy="109728"/>
          </a:xfrm>
          <a:prstGeom prst="ellipse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95528" y="1453896"/>
            <a:ext cx="109728" cy="10972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96696" y="1453896"/>
            <a:ext cx="109728" cy="109728"/>
          </a:xfrm>
          <a:prstGeom prst="ellipse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" y="1728216"/>
            <a:ext cx="4882896" cy="4526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980" b="0" i="0">
                <a:solidFill>
                  <a:srgbClr val="4ADE80"/>
                </a:solidFill>
                <a:latin typeface="Courier New"/>
              </a:rPr>
              <a:t>CHAOS 1 — ImagePullBackOff
══════════════════════════
broken-image.yaml  (tag: v999)
        │
Pod: ErrImagePull / ImagePullBackOff
        │
        ▼  kubectl describe pod -n opspulse
Root Cause: Registry tag not found
        │
        ▼  FIX: use verified GHCR SHA
Pod: Running ✓
CHAOS 2 — Empty Service Endpoints
══════════════════════════════════
broken-service.yaml  (wrong selector)
        │
Service exists  →  curl: Connection Refused
        │
        ▼  kubectl get endpoints -n opspulse
Root Cause: Endpoints = &lt;none&gt;  (mismatch)
        │
        ▼  FIX: selector  app: opspulse-backend
Endpoints populated  →  Traffic flows 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25880"/>
            <a:ext cx="5943600" cy="5074920"/>
          </a:xfrm>
          <a:prstGeom prst="roundRect">
            <a:avLst/>
          </a:prstGeom>
          <a:solidFill>
            <a:srgbClr val="1E2C48"/>
          </a:solidFill>
          <a:ln w="1524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536192"/>
            <a:ext cx="548640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1250" b="1" i="0">
                <a:solidFill>
                  <a:srgbClr val="38BDF8"/>
                </a:solidFill>
                <a:latin typeface="Inter"/>
              </a:rPr>
              <a:t>RUBRIC COMPLIANCE SCORECARD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80760" y="1938528"/>
            <a:ext cx="57150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72200" y="202996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29400" y="202996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Application Core &amp; REST APIs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202996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33629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9400" y="233629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Automated Pytest Suite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0" y="233629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64261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29400" y="264261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Git &amp; GitHub Repository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264261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 5/5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94894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9400" y="29489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Docker &amp; Docker Compose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294894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10/10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25526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9400" y="325526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GitHub Actions CI/CD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241280" y="325526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38BDF8"/>
                </a:solidFill>
                <a:latin typeface="Inter"/>
              </a:rPr>
              <a:t>15/15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561588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61588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Trivy DevSecOps Gating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41280" y="3561588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43F5E"/>
                </a:solidFill>
                <a:latin typeface="Inter"/>
              </a:rPr>
              <a:t> 5/5 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867912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29400" y="3867912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Terraform AWS IaC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241280" y="3867912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15/15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174236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29400" y="4174236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Kubernetes &amp; Helm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4174236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C084FC"/>
                </a:solidFill>
                <a:latin typeface="Inter"/>
              </a:rPr>
              <a:t>15/15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448056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29400" y="448056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Prometheus + Grafana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41280" y="448056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FBBF24"/>
                </a:solidFill>
                <a:latin typeface="Inter"/>
              </a:rPr>
              <a:t>10/10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72200" y="4786884"/>
            <a:ext cx="45720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 i="0">
                <a:solidFill>
                  <a:srgbClr val="94A3B8"/>
                </a:solidFill>
                <a:latin typeface="Inter"/>
              </a:rPr>
              <a:t>M10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629400" y="4786884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0">
                <a:solidFill>
                  <a:srgbClr val="F8FAFC"/>
                </a:solidFill>
                <a:latin typeface="Inter"/>
              </a:rPr>
              <a:t>Presentation &amp; Docs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241280" y="478688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4ADE80"/>
                </a:solidFill>
                <a:latin typeface="Inter"/>
              </a:rPr>
              <a:t> 5/5 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080760" y="5166360"/>
            <a:ext cx="5715000" cy="13716"/>
          </a:xfrm>
          <a:prstGeom prst="rect">
            <a:avLst/>
          </a:prstGeom>
          <a:solidFill>
            <a:srgbClr val="2C42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72200" y="5221224"/>
            <a:ext cx="2743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 i="0">
                <a:solidFill>
                  <a:srgbClr val="F8FAFC"/>
                </a:solidFill>
                <a:latin typeface="Inter"/>
              </a:rPr>
              <a:t>TOTAL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35440" y="518464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2000" b="1" i="0">
                <a:solidFill>
                  <a:srgbClr val="4ADE80"/>
                </a:solidFill>
                <a:latin typeface="Inter"/>
              </a:rPr>
              <a:t>100 / 100</a:t>
            </a:r>
          </a:p>
        </p:txBody>
      </p:sp>
      <p:sp>
        <p:nvSpPr>
          <p:cNvPr id="48" name="Rectangle 47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16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6437376"/>
            <a:ext cx="10911535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 i="1">
                <a:solidFill>
                  <a:srgbClr val="94A3B8"/>
                </a:solidFill>
                <a:latin typeface="Inter"/>
              </a:rPr>
              <a:t>🎤  All 10 milestones verified — 23 visual screenshot proofs back every technical claim in this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