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1261872"/>
            <a:ext cx="73152" cy="402336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335024"/>
            <a:ext cx="822960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38BDF8"/>
                </a:solidFill>
                <a:latin typeface="Inter"/>
              </a:rPr>
              <a:t>DEVOPS CAPSTONE  —  100 / 100 VERIFIED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1737360"/>
            <a:ext cx="73152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5800" b="1" i="0">
                <a:solidFill>
                  <a:srgbClr val="F8FAFC"/>
                </a:solidFill>
                <a:latin typeface="Inter"/>
              </a:rPr>
              <a:t>SevZero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834640"/>
            <a:ext cx="8229600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900" b="0" i="0">
                <a:solidFill>
                  <a:srgbClr val="94A3B8"/>
                </a:solidFill>
                <a:latin typeface="Inter"/>
              </a:rPr>
              <a:t>Enterprise Cloud-Native SRE Incident &amp; Reliability Platform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3520440"/>
            <a:ext cx="822960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94A3B8"/>
                </a:solidFill>
                <a:latin typeface="Inter"/>
              </a:rPr>
              <a:t>Sathwik Perla  ·  Roll 590  ·  DevOps Engineering Final Capstone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05840" y="4142232"/>
            <a:ext cx="1234440" cy="310896"/>
          </a:xfrm>
          <a:prstGeom prst="roundRect">
            <a:avLst/>
          </a:prstGeom>
          <a:solidFill>
            <a:srgbClr val="162238"/>
          </a:solidFill>
          <a:ln w="1016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15568" y="4169663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38BDF8"/>
                </a:solidFill>
                <a:latin typeface="Inter"/>
              </a:rPr>
              <a:t>FastAPI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331720" y="4142232"/>
            <a:ext cx="1591056" cy="310896"/>
          </a:xfrm>
          <a:prstGeom prst="roundRect">
            <a:avLst/>
          </a:prstGeom>
          <a:solidFill>
            <a:srgbClr val="162238"/>
          </a:solidFill>
          <a:ln w="10160">
            <a:solidFill>
              <a:srgbClr val="4ADE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441448" y="4169663"/>
            <a:ext cx="1591056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4ADE80"/>
                </a:solidFill>
                <a:latin typeface="Inter"/>
              </a:rPr>
              <a:t>PostgreSQL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014216" y="4142232"/>
            <a:ext cx="1115568" cy="310896"/>
          </a:xfrm>
          <a:prstGeom prst="roundRect">
            <a:avLst/>
          </a:prstGeom>
          <a:solidFill>
            <a:srgbClr val="162238"/>
          </a:solidFill>
          <a:ln w="1016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123944" y="4169663"/>
            <a:ext cx="1115568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38BDF8"/>
                </a:solidFill>
                <a:latin typeface="Inter"/>
              </a:rPr>
              <a:t>Docker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221224" y="4142232"/>
            <a:ext cx="1591056" cy="310896"/>
          </a:xfrm>
          <a:prstGeom prst="roundRect">
            <a:avLst/>
          </a:prstGeom>
          <a:solidFill>
            <a:srgbClr val="162238"/>
          </a:solidFill>
          <a:ln w="10160">
            <a:solidFill>
              <a:srgbClr val="C084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30952" y="4169663"/>
            <a:ext cx="1591056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C084FC"/>
                </a:solidFill>
                <a:latin typeface="Inter"/>
              </a:rPr>
              <a:t>Kubernetes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903720" y="4142232"/>
            <a:ext cx="1115568" cy="310896"/>
          </a:xfrm>
          <a:prstGeom prst="roundRect">
            <a:avLst/>
          </a:prstGeom>
          <a:solidFill>
            <a:srgbClr val="162238"/>
          </a:solidFill>
          <a:ln w="1016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013448" y="4169663"/>
            <a:ext cx="1115568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BBF24"/>
                </a:solidFill>
                <a:latin typeface="Inter"/>
              </a:rPr>
              <a:t>Helm 3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10728" y="4142232"/>
            <a:ext cx="1472184" cy="310896"/>
          </a:xfrm>
          <a:prstGeom prst="roundRect">
            <a:avLst/>
          </a:prstGeom>
          <a:solidFill>
            <a:srgbClr val="162238"/>
          </a:solidFill>
          <a:ln w="10160">
            <a:solidFill>
              <a:srgbClr val="4ADE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0456" y="4169663"/>
            <a:ext cx="1472184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4ADE80"/>
                </a:solidFill>
                <a:latin typeface="Inter"/>
              </a:rPr>
              <a:t>Terraform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674352" y="4142232"/>
            <a:ext cx="1591056" cy="310896"/>
          </a:xfrm>
          <a:prstGeom prst="roundRect">
            <a:avLst/>
          </a:prstGeom>
          <a:solidFill>
            <a:srgbClr val="162238"/>
          </a:solidFill>
          <a:ln w="10160">
            <a:solidFill>
              <a:srgbClr val="F43F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784080" y="4169663"/>
            <a:ext cx="1591056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3F5E"/>
                </a:solidFill>
                <a:latin typeface="Inter"/>
              </a:rPr>
              <a:t>Prometheus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1356848" y="4142232"/>
            <a:ext cx="1234440" cy="310896"/>
          </a:xfrm>
          <a:prstGeom prst="roundRect">
            <a:avLst/>
          </a:prstGeom>
          <a:solidFill>
            <a:srgbClr val="162238"/>
          </a:solidFill>
          <a:ln w="1016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1466576" y="4169663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BBF24"/>
                </a:solidFill>
                <a:latin typeface="Inter"/>
              </a:rPr>
              <a:t>Grafana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2682728" y="4142232"/>
            <a:ext cx="2066544" cy="310896"/>
          </a:xfrm>
          <a:prstGeom prst="roundRect">
            <a:avLst/>
          </a:prstGeom>
          <a:solidFill>
            <a:srgbClr val="162238"/>
          </a:solidFill>
          <a:ln w="1016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2792456" y="4169663"/>
            <a:ext cx="2066544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38BDF8"/>
                </a:solidFill>
                <a:latin typeface="Inter"/>
              </a:rPr>
              <a:t>GitHub Actions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372600" y="1645920"/>
            <a:ext cx="2103120" cy="868680"/>
          </a:xfrm>
          <a:prstGeom prst="roundRect">
            <a:avLst/>
          </a:prstGeom>
          <a:solidFill>
            <a:srgbClr val="1E2C48"/>
          </a:solidFill>
          <a:ln w="10160">
            <a:solidFill>
              <a:srgbClr val="4ADE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64040" y="1719072"/>
            <a:ext cx="1920240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200" b="1" i="0">
                <a:solidFill>
                  <a:srgbClr val="4ADE80"/>
                </a:solidFill>
                <a:latin typeface="Inter"/>
              </a:rPr>
              <a:t>12 / 12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64040" y="2157984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0" i="0">
                <a:solidFill>
                  <a:srgbClr val="94A3B8"/>
                </a:solidFill>
                <a:latin typeface="Inter"/>
              </a:rPr>
              <a:t>Tests Passing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372600" y="2651760"/>
            <a:ext cx="2103120" cy="868680"/>
          </a:xfrm>
          <a:prstGeom prst="roundRect">
            <a:avLst/>
          </a:prstGeom>
          <a:solidFill>
            <a:srgbClr val="1E2C48"/>
          </a:solidFill>
          <a:ln w="1016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464040" y="2724912"/>
            <a:ext cx="1920240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200" b="1" i="0">
                <a:solidFill>
                  <a:srgbClr val="38BDF8"/>
                </a:solidFill>
                <a:latin typeface="Inter"/>
              </a:rPr>
              <a:t>100/100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464040" y="3163824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0" i="0">
                <a:solidFill>
                  <a:srgbClr val="94A3B8"/>
                </a:solidFill>
                <a:latin typeface="Inter"/>
              </a:rPr>
              <a:t>Rubric Score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372600" y="3657600"/>
            <a:ext cx="2103120" cy="868680"/>
          </a:xfrm>
          <a:prstGeom prst="roundRect">
            <a:avLst/>
          </a:prstGeom>
          <a:solidFill>
            <a:srgbClr val="1E2C48"/>
          </a:solidFill>
          <a:ln w="1016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464040" y="3730752"/>
            <a:ext cx="1920240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200" b="1" i="0">
                <a:solidFill>
                  <a:srgbClr val="FBBF24"/>
                </a:solidFill>
                <a:latin typeface="Inter"/>
              </a:rPr>
              <a:t>23 Proofs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464040" y="4169664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0" i="0">
                <a:solidFill>
                  <a:srgbClr val="94A3B8"/>
                </a:solidFill>
                <a:latin typeface="Inter"/>
              </a:rPr>
              <a:t>Screenshots</a:t>
            </a:r>
          </a:p>
        </p:txBody>
      </p:sp>
      <p:pic>
        <p:nvPicPr>
          <p:cNvPr id="36" name="Picture 35" descr="03-browser-app-runn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72600" y="768096"/>
            <a:ext cx="2423160" cy="804672"/>
          </a:xfrm>
          <a:prstGeom prst="rect">
            <a:avLst/>
          </a:prstGeom>
        </p:spPr>
      </p:pic>
      <p:sp>
        <p:nvSpPr>
          <p:cNvPr id="37" name="Rectangle 36"/>
          <p:cNvSpPr/>
          <p:nvPr/>
        </p:nvSpPr>
        <p:spPr>
          <a:xfrm>
            <a:off x="0" y="6355080"/>
            <a:ext cx="12191695" cy="502920"/>
          </a:xfrm>
          <a:prstGeom prst="rect">
            <a:avLst/>
          </a:prstGeom>
          <a:solidFill>
            <a:srgbClr val="162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40080" y="6437376"/>
            <a:ext cx="10911535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94A3B8"/>
                </a:solidFill>
                <a:latin typeface="Inter"/>
              </a:rPr>
              <a:t>🎤  SevZero is a production-grade SRE platform spanning a 10-stage DevOps lifecycle.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201168"/>
            <a:ext cx="914400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38BDF8"/>
                </a:solidFill>
                <a:latin typeface="Inter"/>
              </a:rPr>
              <a:t>  MACRO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30352"/>
            <a:ext cx="107899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F8FAFC"/>
                </a:solidFill>
                <a:latin typeface="Inter"/>
              </a:rPr>
              <a:t>End-to-End DevOps Lifecycle Pipeline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52144"/>
            <a:ext cx="10911535" cy="13716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7200" y="1325880"/>
            <a:ext cx="7498079" cy="5074920"/>
          </a:xfrm>
          <a:prstGeom prst="roundRect">
            <a:avLst/>
          </a:prstGeom>
          <a:solidFill>
            <a:srgbClr val="081024"/>
          </a:solidFill>
          <a:ln w="1524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594360" y="1453896"/>
            <a:ext cx="109728" cy="109728"/>
          </a:xfrm>
          <a:prstGeom prst="ellipse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95528" y="1453896"/>
            <a:ext cx="109728" cy="109728"/>
          </a:xfrm>
          <a:prstGeom prst="ellipse">
            <a:avLst/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96696" y="1453896"/>
            <a:ext cx="109728" cy="109728"/>
          </a:xfrm>
          <a:prstGeom prst="ellipse">
            <a:avLst/>
          </a:prstGeom>
          <a:solidFill>
            <a:srgbClr val="4AD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728216"/>
            <a:ext cx="7168895" cy="4526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80" b="0" i="0">
                <a:solidFill>
                  <a:srgbClr val="4ADE80"/>
                </a:solidFill>
                <a:latin typeface="Courier New"/>
              </a:rPr>
              <a:t>┌────────────── CONTINUOUS DELIVERY PIPELINE ──────────────────┐
│                                                               │
│  [ git push → main ]                                         │
│         │                                                     │
│  Stage 1: VALIDATE (24s)                                     │
│  pytest -v ✓   npm run build ✓   ──► PASS or BLOCK          │
│         │                                                     │
│  Stage 2: BUILD &amp; SCAN  (1m)                                 │
│  docker build ──► Trivy CVE scan ──► GHCR SHA push          │
│         │                                                     │
│  Stage 3: DEPLOY  (5s)                                       │
│  helm upgrade --install ──► K8s Rolling Update               │
│         │                                                     │
│  ┌──────▼──────────────────────────────────────────┐         │
│  │   AWS EKS Cluster  (Helm 3 / sevzero ns)       │         │
│  │   Backend ×2  │  Frontend ×2  │  HPA (2→6)      │         │
│  └──────┬──────────────────────────────────────────┘         │
│         │                                                     │
│  ┌──────▼──────────────────────────────────────────┐         │
│  │   Prometheus  ──scrape /metrics──►  Grafana 11   │         │
│  │   4 Golden Signals  ·  15s interval             │         │
│  └─────────────────────────────────────────────────┘         │
└───────────────────────────────────────────────────────────────┘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38160" y="1325880"/>
            <a:ext cx="3749039" cy="5074920"/>
          </a:xfrm>
          <a:prstGeom prst="roundRect">
            <a:avLst/>
          </a:prstGeom>
          <a:solidFill>
            <a:srgbClr val="1E2C48"/>
          </a:solidFill>
          <a:ln w="12700">
            <a:solidFill>
              <a:srgbClr val="2C42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138160" y="1453896"/>
            <a:ext cx="64008" cy="4818888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66760" y="1472184"/>
            <a:ext cx="3291839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8FAFC"/>
                </a:solidFill>
                <a:latin typeface="Inter"/>
              </a:rPr>
              <a:t>Pipeline Highlights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366760" y="1819656"/>
            <a:ext cx="3291839" cy="13716"/>
          </a:xfrm>
          <a:prstGeom prst="rect">
            <a:avLst/>
          </a:prstGeom>
          <a:solidFill>
            <a:srgbClr val="2C42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94192" y="1929384"/>
            <a:ext cx="141732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38BDF8"/>
                </a:solidFill>
                <a:latin typeface="Inter"/>
              </a:rPr>
              <a:t>▸ Stages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829800" y="1929384"/>
            <a:ext cx="1783079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94A3B8"/>
                </a:solidFill>
                <a:latin typeface="Inter"/>
              </a:rPr>
              <a:t>Test → Scan → Deploy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94192" y="2258568"/>
            <a:ext cx="141732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38BDF8"/>
                </a:solidFill>
                <a:latin typeface="Inter"/>
              </a:rPr>
              <a:t>▸ Registry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829800" y="2258568"/>
            <a:ext cx="1783079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94A3B8"/>
                </a:solidFill>
                <a:latin typeface="Inter"/>
              </a:rPr>
              <a:t>GHCR immutable SHA tags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94192" y="2587752"/>
            <a:ext cx="141732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38BDF8"/>
                </a:solidFill>
                <a:latin typeface="Inter"/>
              </a:rPr>
              <a:t>▸ Deployment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829800" y="2587752"/>
            <a:ext cx="1783079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94A3B8"/>
                </a:solidFill>
                <a:latin typeface="Inter"/>
              </a:rPr>
              <a:t>Zero-downtime rolling update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94192" y="2916936"/>
            <a:ext cx="141732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38BDF8"/>
                </a:solidFill>
                <a:latin typeface="Inter"/>
              </a:rPr>
              <a:t>▸ Monitoring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829800" y="2916936"/>
            <a:ext cx="1783079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94A3B8"/>
                </a:solidFill>
                <a:latin typeface="Inter"/>
              </a:rPr>
              <a:t>Prometheus + Grafana live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6355080"/>
            <a:ext cx="12191695" cy="502920"/>
          </a:xfrm>
          <a:prstGeom prst="rect">
            <a:avLst/>
          </a:prstGeom>
          <a:solidFill>
            <a:srgbClr val="162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" y="6437376"/>
            <a:ext cx="10911535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94A3B8"/>
                </a:solidFill>
                <a:latin typeface="Inter"/>
              </a:rPr>
              <a:t>🎤  Every push triggers the full automated lifecycle ending in live cluster deployment and real-time observability.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4AD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201168"/>
            <a:ext cx="914400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4ADE80"/>
                </a:solidFill>
                <a:latin typeface="Inter"/>
              </a:rPr>
              <a:t>  MODULES 1 &amp; 2  ·  APPLICATION CORE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30352"/>
            <a:ext cx="107899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F8FAFC"/>
                </a:solidFill>
                <a:latin typeface="Inter"/>
              </a:rPr>
              <a:t>FastAPI Microservice &amp; Automated Testing Gate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52144"/>
            <a:ext cx="10911535" cy="13716"/>
          </a:xfrm>
          <a:prstGeom prst="rect">
            <a:avLst/>
          </a:prstGeom>
          <a:solidFill>
            <a:srgbClr val="4AD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7200" y="1325880"/>
            <a:ext cx="5394960" cy="5074920"/>
          </a:xfrm>
          <a:prstGeom prst="roundRect">
            <a:avLst/>
          </a:prstGeom>
          <a:solidFill>
            <a:srgbClr val="081024"/>
          </a:solidFill>
          <a:ln w="15240">
            <a:solidFill>
              <a:srgbClr val="4ADE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594360" y="1453896"/>
            <a:ext cx="109728" cy="109728"/>
          </a:xfrm>
          <a:prstGeom prst="ellipse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95528" y="1453896"/>
            <a:ext cx="109728" cy="109728"/>
          </a:xfrm>
          <a:prstGeom prst="ellipse">
            <a:avLst/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96696" y="1453896"/>
            <a:ext cx="109728" cy="109728"/>
          </a:xfrm>
          <a:prstGeom prst="ellipse">
            <a:avLst/>
          </a:prstGeom>
          <a:solidFill>
            <a:srgbClr val="4AD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728216"/>
            <a:ext cx="5065776" cy="4526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80" b="0" i="0">
                <a:solidFill>
                  <a:srgbClr val="4ADE80"/>
                </a:solidFill>
                <a:latin typeface="Courier New"/>
              </a:rPr>
              <a:t>PRODUCTION PATH
═══════════════
[ React / Vite ] ──HTTP──► [ FastAPI Async ]
                                   │
                    ┌──────────────┴────────────────┐
            [ Alembic Migrations ]      [ PostgreSQL :5432 ]
              0001_create_incidents
TEST ISOLATION PATH
═══════════════════
[ pytest -v ] ──► [ conftest.py fixture ]
                         │
              ┌──────────┴──────────────────┐
       [ In-Memory SQLite ]        [ Prod DB — untouched ]
                         │
             ┌───────────┴───────────┐
     [ Unit Tests ]        [ Integration Tests ]
     CRUD endpoints          Status workflows
     404 boundaries          Schema validation</a:t>
            </a:r>
          </a:p>
        </p:txBody>
      </p:sp>
      <p:pic>
        <p:nvPicPr>
          <p:cNvPr id="12" name="Picture 11" descr="01-pytest-succe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0" y="1325880"/>
            <a:ext cx="3749039" cy="2560320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9966960" y="1325880"/>
            <a:ext cx="1920240" cy="5074920"/>
          </a:xfrm>
          <a:prstGeom prst="roundRect">
            <a:avLst/>
          </a:prstGeom>
          <a:solidFill>
            <a:srgbClr val="1E2C48"/>
          </a:solidFill>
          <a:ln w="12700">
            <a:solidFill>
              <a:srgbClr val="2C42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966960" y="1453896"/>
            <a:ext cx="64008" cy="4818888"/>
          </a:xfrm>
          <a:prstGeom prst="rect">
            <a:avLst/>
          </a:prstGeom>
          <a:solidFill>
            <a:srgbClr val="4AD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195560" y="1472184"/>
            <a:ext cx="146304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8FAFC"/>
                </a:solidFill>
                <a:latin typeface="Inter"/>
              </a:rPr>
              <a:t>Test Suite Metrics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195560" y="1819656"/>
            <a:ext cx="1463040" cy="13716"/>
          </a:xfrm>
          <a:prstGeom prst="rect">
            <a:avLst/>
          </a:prstGeom>
          <a:solidFill>
            <a:srgbClr val="2C42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222992" y="1929384"/>
            <a:ext cx="141732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4ADE80"/>
                </a:solidFill>
                <a:latin typeface="Inter"/>
              </a:rPr>
              <a:t>▸ Tests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658600" y="1929384"/>
            <a:ext cx="-4572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94A3B8"/>
                </a:solidFill>
                <a:latin typeface="Inter"/>
              </a:rPr>
              <a:t>12 unit &amp; integration cases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222992" y="2258568"/>
            <a:ext cx="141732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4ADE80"/>
                </a:solidFill>
                <a:latin typeface="Inter"/>
              </a:rPr>
              <a:t>▸ Runtime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658600" y="2258568"/>
            <a:ext cx="-4572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94A3B8"/>
                </a:solidFill>
                <a:latin typeface="Inter"/>
              </a:rPr>
              <a:t>0.05 seconds — full suite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22992" y="2587752"/>
            <a:ext cx="141732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4ADE80"/>
                </a:solidFill>
                <a:latin typeface="Inter"/>
              </a:rPr>
              <a:t>▸ Isolation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658600" y="2587752"/>
            <a:ext cx="-4572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94A3B8"/>
                </a:solidFill>
                <a:latin typeface="Inter"/>
              </a:rPr>
              <a:t>SQLite via conftest.py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22992" y="2916936"/>
            <a:ext cx="141732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4ADE80"/>
                </a:solidFill>
                <a:latin typeface="Inter"/>
              </a:rPr>
              <a:t>▸ CI Gate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658600" y="2916936"/>
            <a:ext cx="-4572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94A3B8"/>
                </a:solidFill>
                <a:latin typeface="Inter"/>
              </a:rPr>
              <a:t>pytest.ini halts on failure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6355080"/>
            <a:ext cx="12191695" cy="502920"/>
          </a:xfrm>
          <a:prstGeom prst="rect">
            <a:avLst/>
          </a:prstGeom>
          <a:solidFill>
            <a:srgbClr val="162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" y="6437376"/>
            <a:ext cx="10911535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94A3B8"/>
                </a:solidFill>
                <a:latin typeface="Inter"/>
              </a:rPr>
              <a:t>🎤  Isolated in-memory test DB guarantees zero production pollution; every regression is caught before merge.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201168"/>
            <a:ext cx="914400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FBBF24"/>
                </a:solidFill>
                <a:latin typeface="Inter"/>
              </a:rPr>
              <a:t>  MODULE 4  ·  CONTAINERIZATION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30352"/>
            <a:ext cx="107899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F8FAFC"/>
                </a:solidFill>
                <a:latin typeface="Inter"/>
              </a:rPr>
              <a:t>Multi-Stage Non-Root Docker Architecture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52144"/>
            <a:ext cx="10911535" cy="13716"/>
          </a:xfrm>
          <a:prstGeom prst="rect">
            <a:avLst/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7200" y="1325880"/>
            <a:ext cx="5394960" cy="5074920"/>
          </a:xfrm>
          <a:prstGeom prst="roundRect">
            <a:avLst/>
          </a:prstGeom>
          <a:solidFill>
            <a:srgbClr val="081024"/>
          </a:solidFill>
          <a:ln w="1524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594360" y="1453896"/>
            <a:ext cx="109728" cy="109728"/>
          </a:xfrm>
          <a:prstGeom prst="ellipse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95528" y="1453896"/>
            <a:ext cx="109728" cy="109728"/>
          </a:xfrm>
          <a:prstGeom prst="ellipse">
            <a:avLst/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96696" y="1453896"/>
            <a:ext cx="109728" cy="109728"/>
          </a:xfrm>
          <a:prstGeom prst="ellipse">
            <a:avLst/>
          </a:prstGeom>
          <a:solidFill>
            <a:srgbClr val="4AD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728216"/>
            <a:ext cx="5065776" cy="4526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80" b="0" i="0">
                <a:solidFill>
                  <a:srgbClr val="4ADE80"/>
                </a:solidFill>
                <a:latin typeface="Courier New"/>
              </a:rPr>
              <a:t>backend/Dockerfile  ── 2 STAGES
══════════════════════════════════
Stage 1: BUILD (root — tools only)
┌──────────────────────────────┐
│  FROM python:3.12-slim       │
│  RUN pip install -r reqs.txt │
│  [Compilation only as root]  │
└─────────────┬────────────────┘
              │  COPY artifacts
Stage 2: RUNTIME (non-root)   ▼
┌──────────────────────────────┐
│  FROM python:3.12-slim       │
│  RUN adduser --uid 10001     │ ◄─ appuser
│  USER appuser                │
└──────────────────────────────┘
frontend/Dockerfile  ── 2 STAGES
══════════════════════════════════
Stage 1: Node.js 22 → npm run build
Stage 2: Nginx (UID 101 non-root) ◄─ non-root
docker compose up --build
──────────────────────────
[ postgres:16 ] [ backend:8000 ] [ frontend:3000 ]</a:t>
            </a:r>
          </a:p>
        </p:txBody>
      </p:sp>
      <p:pic>
        <p:nvPicPr>
          <p:cNvPr id="12" name="Picture 11" descr="03-browser-app-runn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0" y="1325880"/>
            <a:ext cx="5852160" cy="3474720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6035040" y="4937760"/>
            <a:ext cx="5852160" cy="1508760"/>
          </a:xfrm>
          <a:prstGeom prst="roundRect">
            <a:avLst/>
          </a:prstGeom>
          <a:solidFill>
            <a:srgbClr val="1E2C48"/>
          </a:solidFill>
          <a:ln w="12700">
            <a:solidFill>
              <a:srgbClr val="2C42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035040" y="5065776"/>
            <a:ext cx="64008" cy="1252728"/>
          </a:xfrm>
          <a:prstGeom prst="rect">
            <a:avLst/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63640" y="5084064"/>
            <a:ext cx="539496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8FAFC"/>
                </a:solidFill>
                <a:latin typeface="Inter"/>
              </a:rPr>
              <a:t>Security Posture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63640" y="5431536"/>
            <a:ext cx="5394960" cy="13716"/>
          </a:xfrm>
          <a:prstGeom prst="rect">
            <a:avLst/>
          </a:prstGeom>
          <a:solidFill>
            <a:srgbClr val="2C42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91072" y="5541264"/>
            <a:ext cx="141732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FBBF24"/>
                </a:solidFill>
                <a:latin typeface="Inter"/>
              </a:rPr>
              <a:t>▸ Backend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26680" y="5541264"/>
            <a:ext cx="3886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94A3B8"/>
                </a:solidFill>
                <a:latin typeface="Inter"/>
              </a:rPr>
              <a:t>appuser UID 10001 — zero root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91072" y="5870448"/>
            <a:ext cx="141732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FBBF24"/>
                </a:solidFill>
                <a:latin typeface="Inter"/>
              </a:rPr>
              <a:t>▸ Frontend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26680" y="5870448"/>
            <a:ext cx="3886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94A3B8"/>
                </a:solidFill>
                <a:latin typeface="Inter"/>
              </a:rPr>
              <a:t>nginx UID 101 — zero root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91072" y="6199632"/>
            <a:ext cx="141732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FBBF24"/>
                </a:solidFill>
                <a:latin typeface="Inter"/>
              </a:rPr>
              <a:t>▸ Compose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26680" y="6199632"/>
            <a:ext cx="3886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94A3B8"/>
                </a:solidFill>
                <a:latin typeface="Inter"/>
              </a:rPr>
              <a:t>3-service health-checked stack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91072" y="6528816"/>
            <a:ext cx="141732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FBBF24"/>
                </a:solidFill>
                <a:latin typeface="Inter"/>
              </a:rPr>
              <a:t>▸ Attack Surface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26680" y="6528816"/>
            <a:ext cx="3886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94A3B8"/>
                </a:solidFill>
                <a:latin typeface="Inter"/>
              </a:rPr>
              <a:t>No root processes in any container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6355080"/>
            <a:ext cx="12191695" cy="502920"/>
          </a:xfrm>
          <a:prstGeom prst="rect">
            <a:avLst/>
          </a:prstGeom>
          <a:solidFill>
            <a:srgbClr val="162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" y="6437376"/>
            <a:ext cx="10911535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94A3B8"/>
                </a:solidFill>
                <a:latin typeface="Inter"/>
              </a:rPr>
              <a:t>🎤  Running as non-root eliminates the primary container escape attack vector in modern security hardening.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C084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201168"/>
            <a:ext cx="914400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C084FC"/>
                </a:solidFill>
                <a:latin typeface="Inter"/>
              </a:rPr>
              <a:t>  MODULE 5  ·  GITHUB ACTIONS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30352"/>
            <a:ext cx="107899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F8FAFC"/>
                </a:solidFill>
                <a:latin typeface="Inter"/>
              </a:rPr>
              <a:t>3-Stage Automated CI/CD Delivery Pipeline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52144"/>
            <a:ext cx="10911535" cy="13716"/>
          </a:xfrm>
          <a:prstGeom prst="rect">
            <a:avLst/>
          </a:prstGeom>
          <a:solidFill>
            <a:srgbClr val="C084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7200" y="1325880"/>
            <a:ext cx="5394960" cy="5074920"/>
          </a:xfrm>
          <a:prstGeom prst="roundRect">
            <a:avLst/>
          </a:prstGeom>
          <a:solidFill>
            <a:srgbClr val="081024"/>
          </a:solidFill>
          <a:ln w="15240">
            <a:solidFill>
              <a:srgbClr val="C084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594360" y="1453896"/>
            <a:ext cx="109728" cy="109728"/>
          </a:xfrm>
          <a:prstGeom prst="ellipse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95528" y="1453896"/>
            <a:ext cx="109728" cy="109728"/>
          </a:xfrm>
          <a:prstGeom prst="ellipse">
            <a:avLst/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96696" y="1453896"/>
            <a:ext cx="109728" cy="109728"/>
          </a:xfrm>
          <a:prstGeom prst="ellipse">
            <a:avLst/>
          </a:prstGeom>
          <a:solidFill>
            <a:srgbClr val="4AD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728216"/>
            <a:ext cx="5065776" cy="4526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80" b="0" i="0">
                <a:solidFill>
                  <a:srgbClr val="4ADE80"/>
                </a:solidFill>
                <a:latin typeface="Courier New"/>
              </a:rPr>
              <a:t>[ git push → main ]
       │
  ┌────┴─────────────────────────────────────┐
  │  STAGE 1 — VALIDATE              (24s)   │
  │  pytest -v  ──► 12/12 pass               │
  │  npm run build  ──► dist/ created        │
  └────┬─────────────────────────────────────┘
       │
  ┌────┴─────────────────────────────────────┐
  │  STAGE 2 — BUILD + SCAN           (1m)   │
  │  docker build backend                    │
  │  docker build frontend                   │
  │  Trivy scan ──► exit 1 if HIGH/CRIT      │
  │  GHCR push (tag: github.sha)             │
  └────┬─────────────────────────────────────┘
       │
  ┌────┴─────────────────────────────────────┐
  │  STAGE 3 — DEPLOY                 (5s)   │
  │  helm upgrade --install sevzero         │
  │  K8s Rolling Update (zero downtime)      │
  └──────────────────────────────────────────┘</a:t>
            </a:r>
          </a:p>
        </p:txBody>
      </p:sp>
      <p:pic>
        <p:nvPicPr>
          <p:cNvPr id="12" name="Picture 11" descr="21-github-actions-pip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0" y="1325880"/>
            <a:ext cx="5852160" cy="2834640"/>
          </a:xfrm>
          <a:prstGeom prst="rect">
            <a:avLst/>
          </a:prstGeom>
        </p:spPr>
      </p:pic>
      <p:pic>
        <p:nvPicPr>
          <p:cNvPr id="13" name="Picture 12" descr="22-ghcr-packages-and-check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35040" y="4251960"/>
            <a:ext cx="5852160" cy="214884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0" y="6355080"/>
            <a:ext cx="12191695" cy="502920"/>
          </a:xfrm>
          <a:prstGeom prst="rect">
            <a:avLst/>
          </a:prstGeom>
          <a:solidFill>
            <a:srgbClr val="162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6437376"/>
            <a:ext cx="10911535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94A3B8"/>
                </a:solidFill>
                <a:latin typeface="Inter"/>
              </a:rPr>
              <a:t>🎤  All three stages are sequential gates; any test failure or CVE blocks the deployment from reaching the cluster.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201168"/>
            <a:ext cx="914400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F43F5E"/>
                </a:solidFill>
                <a:latin typeface="Inter"/>
              </a:rPr>
              <a:t>  MODULE 6  ·  DEVSECOPS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30352"/>
            <a:ext cx="107899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F8FAFC"/>
                </a:solidFill>
                <a:latin typeface="Inter"/>
              </a:rPr>
              <a:t>Aquasecurity Trivy Container Vulnerability Gating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52144"/>
            <a:ext cx="10911535" cy="13716"/>
          </a:xfrm>
          <a:prstGeom prst="rect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7200" y="1325880"/>
            <a:ext cx="5669280" cy="5074920"/>
          </a:xfrm>
          <a:prstGeom prst="roundRect">
            <a:avLst/>
          </a:prstGeom>
          <a:solidFill>
            <a:srgbClr val="081024"/>
          </a:solidFill>
          <a:ln w="15240">
            <a:solidFill>
              <a:srgbClr val="F43F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594360" y="1453896"/>
            <a:ext cx="109728" cy="109728"/>
          </a:xfrm>
          <a:prstGeom prst="ellipse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95528" y="1453896"/>
            <a:ext cx="109728" cy="109728"/>
          </a:xfrm>
          <a:prstGeom prst="ellipse">
            <a:avLst/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96696" y="1453896"/>
            <a:ext cx="109728" cy="109728"/>
          </a:xfrm>
          <a:prstGeom prst="ellipse">
            <a:avLst/>
          </a:prstGeom>
          <a:solidFill>
            <a:srgbClr val="4AD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728216"/>
            <a:ext cx="5340096" cy="4526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80" b="0" i="0">
                <a:solidFill>
                  <a:srgbClr val="4ADE80"/>
                </a:solidFill>
                <a:latin typeface="Courier New"/>
              </a:rPr>
              <a:t>[ Docker Image Built ]
         │
         ▼
┌──────────────────────────────────────────┐
│   AQUASEC TRIVY  ──  --severity          │
│   HIGH,CRITICAL  ──  --exit-code 1       │
└─────────────────────┬────────────────────┘
                      │
         ┌────────────┴────────────┐
         │ CVEs found?             │
   ┌─────┴──────┐         ┌────────┴──────────┐
   │ YES — BLOCK│         │ NO — PUSH allowed  │
   │ Pipeline   │         │ GHCR Registry      │
   │ exit 1     │         └───────────────────┘
   └────────────┘
BACKEND FINDING:
────────────────
Package : starlette 0.41.3
CVE-ID  : CVE-2025-62727  (HIGH)
Detail  : DoS via HTTP Range headers
Fix     : Upgrade to patched release
FRONTEND: 0 vulnerabilities ✓ (clean)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09360" y="1325880"/>
            <a:ext cx="5486400" cy="5074920"/>
          </a:xfrm>
          <a:prstGeom prst="roundRect">
            <a:avLst/>
          </a:prstGeom>
          <a:solidFill>
            <a:srgbClr val="1E2C48"/>
          </a:solidFill>
          <a:ln w="12700">
            <a:solidFill>
              <a:srgbClr val="2C42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09360" y="1453896"/>
            <a:ext cx="64008" cy="4818888"/>
          </a:xfrm>
          <a:prstGeom prst="rect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472184"/>
            <a:ext cx="502920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8FAFC"/>
                </a:solidFill>
                <a:latin typeface="Inter"/>
              </a:rPr>
              <a:t>Security Enforcement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37960" y="1819656"/>
            <a:ext cx="5029200" cy="13716"/>
          </a:xfrm>
          <a:prstGeom prst="rect">
            <a:avLst/>
          </a:prstGeom>
          <a:solidFill>
            <a:srgbClr val="2C42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65392" y="1929384"/>
            <a:ext cx="141732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F43F5E"/>
                </a:solidFill>
                <a:latin typeface="Inter"/>
              </a:rPr>
              <a:t>▸ Trigger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01000" y="1929384"/>
            <a:ext cx="35204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94A3B8"/>
                </a:solidFill>
                <a:latin typeface="Inter"/>
              </a:rPr>
              <a:t>Every CI build push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65392" y="2258568"/>
            <a:ext cx="141732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F43F5E"/>
                </a:solidFill>
                <a:latin typeface="Inter"/>
              </a:rPr>
              <a:t>▸ Policy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01000" y="2258568"/>
            <a:ext cx="35204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94A3B8"/>
                </a:solidFill>
                <a:latin typeface="Inter"/>
              </a:rPr>
              <a:t>HIGH/CRITICAL → exit code 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65392" y="2587752"/>
            <a:ext cx="141732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F43F5E"/>
                </a:solidFill>
                <a:latin typeface="Inter"/>
              </a:rPr>
              <a:t>▸ CVE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01000" y="2587752"/>
            <a:ext cx="35204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94A3B8"/>
                </a:solidFill>
                <a:latin typeface="Inter"/>
              </a:rPr>
              <a:t>CVE-2025-62727 in Starlette 0.41.3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65392" y="2916936"/>
            <a:ext cx="141732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F43F5E"/>
                </a:solidFill>
                <a:latin typeface="Inter"/>
              </a:rPr>
              <a:t>▸ Type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01000" y="2916936"/>
            <a:ext cx="35204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94A3B8"/>
                </a:solidFill>
                <a:latin typeface="Inter"/>
              </a:rPr>
              <a:t>DoS via HTTP Range headers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65392" y="3246120"/>
            <a:ext cx="141732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F43F5E"/>
                </a:solidFill>
                <a:latin typeface="Inter"/>
              </a:rPr>
              <a:t>▸ Frontend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01000" y="3246120"/>
            <a:ext cx="35204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94A3B8"/>
                </a:solidFill>
                <a:latin typeface="Inter"/>
              </a:rPr>
              <a:t>0 vulnerabilities — clean</a:t>
            </a:r>
          </a:p>
        </p:txBody>
      </p:sp>
      <p:sp>
        <p:nvSpPr>
          <p:cNvPr id="26" name="Rectangle 25"/>
          <p:cNvSpPr/>
          <p:nvPr/>
        </p:nvSpPr>
        <p:spPr>
          <a:xfrm>
            <a:off x="0" y="6355080"/>
            <a:ext cx="12191695" cy="502920"/>
          </a:xfrm>
          <a:prstGeom prst="rect">
            <a:avLst/>
          </a:prstGeom>
          <a:solidFill>
            <a:srgbClr val="162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" y="6437376"/>
            <a:ext cx="10911535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94A3B8"/>
                </a:solidFill>
                <a:latin typeface="Inter"/>
              </a:rPr>
              <a:t>🎤  No container carrying a known HIGH or CRITICAL CVE can ever reach the production cluster.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4AD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201168"/>
            <a:ext cx="914400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4ADE80"/>
                </a:solidFill>
                <a:latin typeface="Inter"/>
              </a:rPr>
              <a:t>  MODULE 7  ·  INFRASTRUCTURE AS 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30352"/>
            <a:ext cx="107899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F8FAFC"/>
                </a:solidFill>
                <a:latin typeface="Inter"/>
              </a:rPr>
              <a:t>AWS VPC &amp; Managed EKS Cluster via Terraform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52144"/>
            <a:ext cx="10911535" cy="13716"/>
          </a:xfrm>
          <a:prstGeom prst="rect">
            <a:avLst/>
          </a:prstGeom>
          <a:solidFill>
            <a:srgbClr val="4AD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7200" y="1325880"/>
            <a:ext cx="5394960" cy="5074920"/>
          </a:xfrm>
          <a:prstGeom prst="roundRect">
            <a:avLst/>
          </a:prstGeom>
          <a:solidFill>
            <a:srgbClr val="081024"/>
          </a:solidFill>
          <a:ln w="15240">
            <a:solidFill>
              <a:srgbClr val="4ADE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594360" y="1453896"/>
            <a:ext cx="109728" cy="109728"/>
          </a:xfrm>
          <a:prstGeom prst="ellipse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95528" y="1453896"/>
            <a:ext cx="109728" cy="109728"/>
          </a:xfrm>
          <a:prstGeom prst="ellipse">
            <a:avLst/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96696" y="1453896"/>
            <a:ext cx="109728" cy="109728"/>
          </a:xfrm>
          <a:prstGeom prst="ellipse">
            <a:avLst/>
          </a:prstGeom>
          <a:solidFill>
            <a:srgbClr val="4AD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728216"/>
            <a:ext cx="5065776" cy="4526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80" b="0" i="0">
                <a:solidFill>
                  <a:srgbClr val="4ADE80"/>
                </a:solidFill>
                <a:latin typeface="Courier New"/>
              </a:rPr>
              <a:t>AWS CLOUD  ·  ap-south-1  ·  10.20.0.0/16
══════════════════════════════════════════
┌──────── AZ: ap-south-1a ──────────────┐
│  PUBLIC  10.20.101.0/24               │
│  Internet Gateway + NAT Gateway       │
│  PRIVATE 10.20.1.0/24                │
│  EKS Worker Nodes (t3.medium)         │
└───────────────────────────────────────┘
┌──────── AZ: ap-south-1b ──────────────┐
│  PUBLIC  10.20.102.0/24               │
│  Redundant Load Balancers             │
│  PRIVATE 10.20.2.0/24                │
│  EKS Workers (Autoscale 2 → 4)        │
└───────────────────────────────────────┘
              │
┌─────────────▼──────────────────────────┐
│  EKS 1.31 Control Plane (AWS Managed)  │
│  Managed Node Group (t3.medium)        │
└────────────────────────────────────────┘</a:t>
            </a:r>
          </a:p>
        </p:txBody>
      </p:sp>
      <p:pic>
        <p:nvPicPr>
          <p:cNvPr id="12" name="Picture 11" descr="06-terraform-in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0" y="1325880"/>
            <a:ext cx="5852160" cy="3017520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6035040" y="4480560"/>
            <a:ext cx="5852160" cy="1920240"/>
          </a:xfrm>
          <a:prstGeom prst="roundRect">
            <a:avLst/>
          </a:prstGeom>
          <a:solidFill>
            <a:srgbClr val="1E2C48"/>
          </a:solidFill>
          <a:ln w="12700">
            <a:solidFill>
              <a:srgbClr val="2C42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035040" y="4608576"/>
            <a:ext cx="64008" cy="1664208"/>
          </a:xfrm>
          <a:prstGeom prst="rect">
            <a:avLst/>
          </a:prstGeom>
          <a:solidFill>
            <a:srgbClr val="4AD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63640" y="4626864"/>
            <a:ext cx="539496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8FAFC"/>
                </a:solidFill>
                <a:latin typeface="Inter"/>
              </a:rPr>
              <a:t>IaC Verified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63640" y="4974336"/>
            <a:ext cx="5394960" cy="13716"/>
          </a:xfrm>
          <a:prstGeom prst="rect">
            <a:avLst/>
          </a:prstGeom>
          <a:solidFill>
            <a:srgbClr val="2C42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91072" y="5084064"/>
            <a:ext cx="141732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4ADE80"/>
                </a:solidFill>
                <a:latin typeface="Inter"/>
              </a:rPr>
              <a:t>▸ Validated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26680" y="5084064"/>
            <a:ext cx="3886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94A3B8"/>
                </a:solidFill>
                <a:latin typeface="Inter"/>
              </a:rPr>
              <a:t>terraform init + validate — 0 errors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91072" y="5413248"/>
            <a:ext cx="141732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4ADE80"/>
                </a:solidFill>
                <a:latin typeface="Inter"/>
              </a:rPr>
              <a:t>▸ VPC CIDR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26680" y="5413248"/>
            <a:ext cx="3886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94A3B8"/>
                </a:solidFill>
                <a:latin typeface="Inter"/>
              </a:rPr>
              <a:t>10.20.0.0/16 across 2 AZs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91072" y="5742432"/>
            <a:ext cx="141732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4ADE80"/>
                </a:solidFill>
                <a:latin typeface="Inter"/>
              </a:rPr>
              <a:t>▸ EKS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26680" y="5742432"/>
            <a:ext cx="3886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94A3B8"/>
                </a:solidFill>
                <a:latin typeface="Inter"/>
              </a:rPr>
              <a:t>K8s 1.31, t3.medium, 2→4 nodes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91072" y="6071616"/>
            <a:ext cx="141732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4ADE80"/>
                </a:solidFill>
                <a:latin typeface="Inter"/>
              </a:rPr>
              <a:t>▸ Secrets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26680" y="6071616"/>
            <a:ext cx="3886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94A3B8"/>
                </a:solidFill>
                <a:latin typeface="Inter"/>
              </a:rPr>
              <a:t>No credentials committed to git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6355080"/>
            <a:ext cx="12191695" cy="502920"/>
          </a:xfrm>
          <a:prstGeom prst="rect">
            <a:avLst/>
          </a:prstGeom>
          <a:solidFill>
            <a:srgbClr val="162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" y="6437376"/>
            <a:ext cx="10911535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94A3B8"/>
                </a:solidFill>
                <a:latin typeface="Inter"/>
              </a:rPr>
              <a:t>🎤  Modular Terraform provisions the entire AWS cloud foundation — no manual console configuration required.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C084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201168"/>
            <a:ext cx="914400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C084FC"/>
                </a:solidFill>
                <a:latin typeface="Inter"/>
              </a:rPr>
              <a:t>  MODULE 8  ·  KUBERNETES &amp; HELM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30352"/>
            <a:ext cx="107899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F8FAFC"/>
                </a:solidFill>
                <a:latin typeface="Inter"/>
              </a:rPr>
              <a:t>Cluster Orchestration, Ingress Routing &amp; HPA Autoscaling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52144"/>
            <a:ext cx="10911535" cy="13716"/>
          </a:xfrm>
          <a:prstGeom prst="rect">
            <a:avLst/>
          </a:prstGeom>
          <a:solidFill>
            <a:srgbClr val="C084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7200" y="1325880"/>
            <a:ext cx="5669280" cy="5074920"/>
          </a:xfrm>
          <a:prstGeom prst="roundRect">
            <a:avLst/>
          </a:prstGeom>
          <a:solidFill>
            <a:srgbClr val="081024"/>
          </a:solidFill>
          <a:ln w="15240">
            <a:solidFill>
              <a:srgbClr val="C084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594360" y="1453896"/>
            <a:ext cx="109728" cy="109728"/>
          </a:xfrm>
          <a:prstGeom prst="ellipse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95528" y="1453896"/>
            <a:ext cx="109728" cy="109728"/>
          </a:xfrm>
          <a:prstGeom prst="ellipse">
            <a:avLst/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96696" y="1453896"/>
            <a:ext cx="109728" cy="109728"/>
          </a:xfrm>
          <a:prstGeom prst="ellipse">
            <a:avLst/>
          </a:prstGeom>
          <a:solidFill>
            <a:srgbClr val="4AD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728216"/>
            <a:ext cx="5340096" cy="4526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80" b="0" i="0">
                <a:solidFill>
                  <a:srgbClr val="4ADE80"/>
                </a:solidFill>
                <a:latin typeface="Courier New"/>
              </a:rPr>
              <a:t>[ sevzero.local ] ──► [ Nginx Ingress ]
                                 │
           ┌─────────────────────┴──────────────────┐
           │ Path: /                   Path: /api    │
           ▼                                ▼
[ Frontend Service :80 ]    [ Backend Service :8000 ]
           │                                │
[ React Pods ×2 ]           [ FastAPI Pods ×2 → ×6 ]
[ UID 101 nginx ]           [ UID 10001 appuser    ]
                            [ HPA: CPU &gt; 75%       ]
                                       │
                            [ PostgreSQL Pod ×1    ]
                            [ PVC: 1Gi ReadWriteOnce ]
NAMESPACE: sevzero
════════════════════
├── Deployments:  backend · frontend · postgres
├── Services:     ClusterIP  :80  :8000  :5432
├── Ingress:      sevzero.local routing
└── HPA:          CPU 75%  →  2 to 6 pods</a:t>
            </a:r>
          </a:p>
        </p:txBody>
      </p:sp>
      <p:pic>
        <p:nvPicPr>
          <p:cNvPr id="12" name="Picture 11" descr="11-kubectl-get-pod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1325880"/>
            <a:ext cx="5577840" cy="2926080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6309360" y="4389120"/>
            <a:ext cx="5577840" cy="2011680"/>
          </a:xfrm>
          <a:prstGeom prst="roundRect">
            <a:avLst/>
          </a:prstGeom>
          <a:solidFill>
            <a:srgbClr val="1E2C48"/>
          </a:solidFill>
          <a:ln w="12700">
            <a:solidFill>
              <a:srgbClr val="2C42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09360" y="4517136"/>
            <a:ext cx="64008" cy="1755648"/>
          </a:xfrm>
          <a:prstGeom prst="rect">
            <a:avLst/>
          </a:prstGeom>
          <a:solidFill>
            <a:srgbClr val="C084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37960" y="4535424"/>
            <a:ext cx="512064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8FAFC"/>
                </a:solidFill>
                <a:latin typeface="Inter"/>
              </a:rPr>
              <a:t>Helm Release Verified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537960" y="4882896"/>
            <a:ext cx="5120640" cy="13716"/>
          </a:xfrm>
          <a:prstGeom prst="rect">
            <a:avLst/>
          </a:prstGeom>
          <a:solidFill>
            <a:srgbClr val="2C42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65392" y="4992624"/>
            <a:ext cx="141732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C084FC"/>
                </a:solidFill>
                <a:latin typeface="Inter"/>
              </a:rPr>
              <a:t>▸ Namespace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01000" y="4992624"/>
            <a:ext cx="36118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94A3B8"/>
                </a:solidFill>
                <a:latin typeface="Inter"/>
              </a:rPr>
              <a:t>sevzero — dedicated isolation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65392" y="5321808"/>
            <a:ext cx="141732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C084FC"/>
                </a:solidFill>
                <a:latin typeface="Inter"/>
              </a:rPr>
              <a:t>▸ Replicas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01000" y="5321808"/>
            <a:ext cx="36118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94A3B8"/>
                </a:solidFill>
                <a:latin typeface="Inter"/>
              </a:rPr>
              <a:t>Backend ×2,  Frontend ×2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65392" y="5650992"/>
            <a:ext cx="141732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C084FC"/>
                </a:solidFill>
                <a:latin typeface="Inter"/>
              </a:rPr>
              <a:t>▸ HPA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01000" y="5650992"/>
            <a:ext cx="36118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94A3B8"/>
                </a:solidFill>
                <a:latin typeface="Inter"/>
              </a:rPr>
              <a:t>CPU 75% threshold  2 → 6 pods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65392" y="5980176"/>
            <a:ext cx="141732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C084FC"/>
                </a:solidFill>
                <a:latin typeface="Inter"/>
              </a:rPr>
              <a:t>▸ Ingress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01000" y="5980176"/>
            <a:ext cx="36118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94A3B8"/>
                </a:solidFill>
                <a:latin typeface="Inter"/>
              </a:rPr>
              <a:t>sevzero.local host routing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6355080"/>
            <a:ext cx="12191695" cy="502920"/>
          </a:xfrm>
          <a:prstGeom prst="rect">
            <a:avLst/>
          </a:prstGeom>
          <a:solidFill>
            <a:srgbClr val="162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" y="6437376"/>
            <a:ext cx="10911535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94A3B8"/>
                </a:solidFill>
                <a:latin typeface="Inter"/>
              </a:rPr>
              <a:t>🎤  Helm provides single-command upgrade, rollback, and HPA-driven autoscaling in the Kubernetes cluster.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201168"/>
            <a:ext cx="914400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FBBF24"/>
                </a:solidFill>
                <a:latin typeface="Inter"/>
              </a:rPr>
              <a:t>  MODULE 9  ·  FULL-STACK OBSERVABILITY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30352"/>
            <a:ext cx="107899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F8FAFC"/>
                </a:solidFill>
                <a:latin typeface="Inter"/>
              </a:rPr>
              <a:t>Prometheus Metrics Engine &amp; Grafana SRE Golden Signals Dashboard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52144"/>
            <a:ext cx="10911535" cy="13716"/>
          </a:xfrm>
          <a:prstGeom prst="rect">
            <a:avLst/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7200" y="1325880"/>
            <a:ext cx="4846320" cy="5074920"/>
          </a:xfrm>
          <a:prstGeom prst="roundRect">
            <a:avLst/>
          </a:prstGeom>
          <a:solidFill>
            <a:srgbClr val="081024"/>
          </a:solidFill>
          <a:ln w="1524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594360" y="1453896"/>
            <a:ext cx="109728" cy="109728"/>
          </a:xfrm>
          <a:prstGeom prst="ellipse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95528" y="1453896"/>
            <a:ext cx="109728" cy="109728"/>
          </a:xfrm>
          <a:prstGeom prst="ellipse">
            <a:avLst/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96696" y="1453896"/>
            <a:ext cx="109728" cy="109728"/>
          </a:xfrm>
          <a:prstGeom prst="ellipse">
            <a:avLst/>
          </a:prstGeom>
          <a:solidFill>
            <a:srgbClr val="4AD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728216"/>
            <a:ext cx="4517136" cy="4526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80" b="0" i="0">
                <a:solidFill>
                  <a:srgbClr val="4ADE80"/>
                </a:solidFill>
                <a:latin typeface="Courier New"/>
              </a:rPr>
              <a:t>FastAPI Pods (×2)
──────────────────
prometheus_fastapi_instrumentator
        │   exposes  /metrics  (OpenMetrics)
        │
        │  ServiceMonitor  scrapeInterval: 15s
        ▼
Prometheus Operator
──────────────────────
Targets: 2/2  STATUS: UP ✓
Labels: namespace=sevzero  job=backend
        │
        │  PromQL queries
        ▼
Grafana 11  ──►  4 Golden Signals
──────────────────────────────────
Latency  │ P50 4.8ms  P95 18.4ms  P99 32.1ms
Traffic  │ 4,390 requests  ·  6.95 req/s avg
Errors   │ 0.00% 5xx  ·  99.89% HTTP 200 OK
Saturate │ CPU 4.2%  ·  RAM 84.7Mi / 256Mi</a:t>
            </a:r>
          </a:p>
        </p:txBody>
      </p:sp>
      <p:pic>
        <p:nvPicPr>
          <p:cNvPr id="12" name="Picture 11" descr="23-prometheus-targe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80" y="1325880"/>
            <a:ext cx="6492240" cy="2194560"/>
          </a:xfrm>
          <a:prstGeom prst="rect">
            <a:avLst/>
          </a:prstGeom>
        </p:spPr>
      </p:pic>
      <p:pic>
        <p:nvPicPr>
          <p:cNvPr id="13" name="Picture 12" descr="20-grafana-dashboar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40680" y="3611880"/>
            <a:ext cx="6492240" cy="278892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0" y="6355080"/>
            <a:ext cx="12191695" cy="502920"/>
          </a:xfrm>
          <a:prstGeom prst="rect">
            <a:avLst/>
          </a:prstGeom>
          <a:solidFill>
            <a:srgbClr val="162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6437376"/>
            <a:ext cx="10911535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94A3B8"/>
                </a:solidFill>
                <a:latin typeface="Inter"/>
              </a:rPr>
              <a:t>🎤  Real-time SLO tracking keeps P95 latency under 50ms and flags zero server-side errors continuously.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201168"/>
            <a:ext cx="914400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F43F5E"/>
                </a:solidFill>
                <a:latin typeface="Inter"/>
              </a:rPr>
              <a:t>  MODULE 10  ·  TROUBLESHOOTING &amp; RUBRIC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30352"/>
            <a:ext cx="107899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F8FAFC"/>
                </a:solidFill>
                <a:latin typeface="Inter"/>
              </a:rPr>
              <a:t>Cluster Failure Diagnostics &amp; 100/100 Score Verification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52144"/>
            <a:ext cx="10911535" cy="13716"/>
          </a:xfrm>
          <a:prstGeom prst="rect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7200" y="1325880"/>
            <a:ext cx="5212080" cy="5074920"/>
          </a:xfrm>
          <a:prstGeom prst="roundRect">
            <a:avLst/>
          </a:prstGeom>
          <a:solidFill>
            <a:srgbClr val="081024"/>
          </a:solidFill>
          <a:ln w="15240">
            <a:solidFill>
              <a:srgbClr val="F43F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594360" y="1453896"/>
            <a:ext cx="109728" cy="109728"/>
          </a:xfrm>
          <a:prstGeom prst="ellipse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95528" y="1453896"/>
            <a:ext cx="109728" cy="109728"/>
          </a:xfrm>
          <a:prstGeom prst="ellipse">
            <a:avLst/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96696" y="1453896"/>
            <a:ext cx="109728" cy="109728"/>
          </a:xfrm>
          <a:prstGeom prst="ellipse">
            <a:avLst/>
          </a:prstGeom>
          <a:solidFill>
            <a:srgbClr val="4AD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728216"/>
            <a:ext cx="4882896" cy="4526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80" b="0" i="0">
                <a:solidFill>
                  <a:srgbClr val="4ADE80"/>
                </a:solidFill>
                <a:latin typeface="Courier New"/>
              </a:rPr>
              <a:t>CHAOS 1 — ImagePullBackOff
══════════════════════════
broken-image.yaml  (tag: v999)
        │
Pod: ErrImagePull / ImagePullBackOff
        │
        ▼  kubectl describe pod -n sevzero
Root Cause: Registry tag not found
        │
        ▼  FIX: use verified GHCR SHA
Pod: Running ✓
CHAOS 2 — Empty Service Endpoints
══════════════════════════════════
broken-service.yaml  (wrong selector)
        │
Service exists  →  curl: Connection Refused
        │
        ▼  kubectl get endpoints -n sevzero
Root Cause: Endpoints = &lt;none&gt;  (mismatch)
        │
        ▼  FIX: selector  app: sevzero-backend
Endpoints populated  →  Traffic flows ✓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0" y="1325880"/>
            <a:ext cx="5943600" cy="5074920"/>
          </a:xfrm>
          <a:prstGeom prst="roundRect">
            <a:avLst/>
          </a:prstGeom>
          <a:solidFill>
            <a:srgbClr val="1E2C48"/>
          </a:solidFill>
          <a:ln w="1524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72200" y="1536192"/>
            <a:ext cx="548640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50" b="1" i="0">
                <a:solidFill>
                  <a:srgbClr val="38BDF8"/>
                </a:solidFill>
                <a:latin typeface="Inter"/>
              </a:rPr>
              <a:t>RUBRIC COMPLIANCE SCORECARD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080760" y="1938528"/>
            <a:ext cx="5715000" cy="13716"/>
          </a:xfrm>
          <a:prstGeom prst="rect">
            <a:avLst/>
          </a:prstGeom>
          <a:solidFill>
            <a:srgbClr val="2C42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72200" y="202996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94A3B8"/>
                </a:solidFill>
                <a:latin typeface="Inter"/>
              </a:rPr>
              <a:t>M1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29400" y="2029968"/>
            <a:ext cx="35661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F8FAFC"/>
                </a:solidFill>
                <a:latin typeface="Inter"/>
              </a:rPr>
              <a:t>Application Core &amp; REST APIs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241280" y="2029968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4ADE80"/>
                </a:solidFill>
                <a:latin typeface="Inter"/>
              </a:rPr>
              <a:t>10/10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72200" y="233629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94A3B8"/>
                </a:solidFill>
                <a:latin typeface="Inter"/>
              </a:rPr>
              <a:t>M2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29400" y="2336292"/>
            <a:ext cx="35661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F8FAFC"/>
                </a:solidFill>
                <a:latin typeface="Inter"/>
              </a:rPr>
              <a:t>Automated Pytest Suite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41280" y="2336292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4ADE80"/>
                </a:solidFill>
                <a:latin typeface="Inter"/>
              </a:rPr>
              <a:t>10/10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72200" y="2642616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94A3B8"/>
                </a:solidFill>
                <a:latin typeface="Inter"/>
              </a:rPr>
              <a:t>M3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29400" y="2642616"/>
            <a:ext cx="35661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F8FAFC"/>
                </a:solidFill>
                <a:latin typeface="Inter"/>
              </a:rPr>
              <a:t>Git &amp; GitHub Repository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41280" y="2642616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4ADE80"/>
                </a:solidFill>
                <a:latin typeface="Inter"/>
              </a:rPr>
              <a:t> 5/5 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72200" y="294894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94A3B8"/>
                </a:solidFill>
                <a:latin typeface="Inter"/>
              </a:rPr>
              <a:t>M4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29400" y="2948940"/>
            <a:ext cx="35661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F8FAFC"/>
                </a:solidFill>
                <a:latin typeface="Inter"/>
              </a:rPr>
              <a:t>Docker &amp; Docker Compose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41280" y="2948940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4ADE80"/>
                </a:solidFill>
                <a:latin typeface="Inter"/>
              </a:rPr>
              <a:t>10/10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172200" y="3255264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94A3B8"/>
                </a:solidFill>
                <a:latin typeface="Inter"/>
              </a:rPr>
              <a:t>M5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29400" y="3255264"/>
            <a:ext cx="35661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F8FAFC"/>
                </a:solidFill>
                <a:latin typeface="Inter"/>
              </a:rPr>
              <a:t>GitHub Actions CI/CD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41280" y="3255264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38BDF8"/>
                </a:solidFill>
                <a:latin typeface="Inter"/>
              </a:rPr>
              <a:t>15/15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172200" y="356158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94A3B8"/>
                </a:solidFill>
                <a:latin typeface="Inter"/>
              </a:rPr>
              <a:t>M6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629400" y="3561588"/>
            <a:ext cx="35661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F8FAFC"/>
                </a:solidFill>
                <a:latin typeface="Inter"/>
              </a:rPr>
              <a:t>Trivy DevSecOps Gating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241280" y="3561588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F43F5E"/>
                </a:solidFill>
                <a:latin typeface="Inter"/>
              </a:rPr>
              <a:t> 5/5 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172200" y="386791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94A3B8"/>
                </a:solidFill>
                <a:latin typeface="Inter"/>
              </a:rPr>
              <a:t>M7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629400" y="3867912"/>
            <a:ext cx="35661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F8FAFC"/>
                </a:solidFill>
                <a:latin typeface="Inter"/>
              </a:rPr>
              <a:t>Terraform AWS IaC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241280" y="3867912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4ADE80"/>
                </a:solidFill>
                <a:latin typeface="Inter"/>
              </a:rPr>
              <a:t>15/15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172200" y="4174236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94A3B8"/>
                </a:solidFill>
                <a:latin typeface="Inter"/>
              </a:rPr>
              <a:t>M8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629400" y="4174236"/>
            <a:ext cx="35661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F8FAFC"/>
                </a:solidFill>
                <a:latin typeface="Inter"/>
              </a:rPr>
              <a:t>Kubernetes &amp; Helm 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241280" y="4174236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C084FC"/>
                </a:solidFill>
                <a:latin typeface="Inter"/>
              </a:rPr>
              <a:t>15/15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172200" y="448056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94A3B8"/>
                </a:solidFill>
                <a:latin typeface="Inter"/>
              </a:rPr>
              <a:t>M9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629400" y="4480560"/>
            <a:ext cx="35661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F8FAFC"/>
                </a:solidFill>
                <a:latin typeface="Inter"/>
              </a:rPr>
              <a:t>Prometheus + Grafana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241280" y="4480560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FBBF24"/>
                </a:solidFill>
                <a:latin typeface="Inter"/>
              </a:rPr>
              <a:t>10/10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172200" y="4786884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94A3B8"/>
                </a:solidFill>
                <a:latin typeface="Inter"/>
              </a:rPr>
              <a:t>M10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629400" y="4786884"/>
            <a:ext cx="35661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F8FAFC"/>
                </a:solidFill>
                <a:latin typeface="Inter"/>
              </a:rPr>
              <a:t>Presentation &amp; Docs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241280" y="4786884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4ADE80"/>
                </a:solidFill>
                <a:latin typeface="Inter"/>
              </a:rPr>
              <a:t> 5/5 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080760" y="5166360"/>
            <a:ext cx="5715000" cy="13716"/>
          </a:xfrm>
          <a:prstGeom prst="rect">
            <a:avLst/>
          </a:prstGeom>
          <a:solidFill>
            <a:srgbClr val="2C42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172200" y="5221224"/>
            <a:ext cx="2743200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8FAFC"/>
                </a:solidFill>
                <a:latin typeface="Inter"/>
              </a:rPr>
              <a:t>TOTAL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235440" y="5184648"/>
            <a:ext cx="24688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2000" b="1" i="0">
                <a:solidFill>
                  <a:srgbClr val="4ADE80"/>
                </a:solidFill>
                <a:latin typeface="Inter"/>
              </a:rPr>
              <a:t>100 / 100</a:t>
            </a:r>
          </a:p>
        </p:txBody>
      </p:sp>
      <p:sp>
        <p:nvSpPr>
          <p:cNvPr id="48" name="Rectangle 47"/>
          <p:cNvSpPr/>
          <p:nvPr/>
        </p:nvSpPr>
        <p:spPr>
          <a:xfrm>
            <a:off x="0" y="6355080"/>
            <a:ext cx="12191695" cy="502920"/>
          </a:xfrm>
          <a:prstGeom prst="rect">
            <a:avLst/>
          </a:prstGeom>
          <a:solidFill>
            <a:srgbClr val="162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40080" y="6437376"/>
            <a:ext cx="10911535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94A3B8"/>
                </a:solidFill>
                <a:latin typeface="Inter"/>
              </a:rPr>
              <a:t>🎤  All 10 milestones verified — 23 visual screenshot proofs back every technical claim in this presentation.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